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</p:sldMasterIdLst>
  <p:sldIdLst>
    <p:sldId id="314" r:id="rId7"/>
    <p:sldId id="265" r:id="rId8"/>
    <p:sldId id="311" r:id="rId9"/>
    <p:sldId id="277" r:id="rId10"/>
    <p:sldId id="278" r:id="rId11"/>
    <p:sldId id="279" r:id="rId12"/>
    <p:sldId id="307" r:id="rId13"/>
    <p:sldId id="315" r:id="rId14"/>
    <p:sldId id="289" r:id="rId15"/>
    <p:sldId id="290" r:id="rId16"/>
    <p:sldId id="292" r:id="rId17"/>
    <p:sldId id="294" r:id="rId18"/>
    <p:sldId id="298" r:id="rId19"/>
    <p:sldId id="304" r:id="rId20"/>
    <p:sldId id="306" r:id="rId2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77" y="2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4236-C265-ED93-B089-2BBEF7C1D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88C6C-7843-8A1C-0E8E-175BF6F63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0E280-B03B-A96C-1077-6D3C9CB5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6B30F-49AA-75AA-A5DE-24796E32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8EFB-EA7F-9429-E2FF-72A3ECAC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430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BADA-A7D4-AE3D-10F1-FA60361D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E00EB-8DBD-656F-CE74-B22CEFF7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547B8-CE8C-4F74-5B22-C0851000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D6075-C1E0-1E8D-19FB-9DFF837C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AC535-4844-7F8B-FF26-4A3A2883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028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43D9-7B3B-48F7-01C1-78104399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A5A2-714F-ADE2-CEC2-6BDCB00B1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3462D-6753-4074-761D-00CF3A23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D7018-8597-A856-B201-CF394CE3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85BDD-7C8B-A540-B8FC-6BC48320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575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ECDA-F1A9-2604-F0EB-8575E261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8ED95-B798-B544-37BF-B0E375409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82EE3-9A0E-B6C4-8056-08A3776C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467B4-9161-BD0D-BFE5-C8E764A6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C9BA7-D80C-DEF6-9566-9C0910EC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401D-A80C-CF51-FF0C-0CE7B126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21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FB8A-3A0C-0A4F-8470-278C90487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ADBAE-0D94-20EF-2B2F-BE6C7E8F6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E545-7D7F-1DBB-5964-A81498DA9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DDA3-0DC5-DF7D-2313-EC43D7023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603E7-A050-A19C-15F0-75965C8CE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BB1D7-B997-09B6-054D-D2ED03B7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1FEED-09BB-8E26-B538-15C275F3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E4279-396E-CFF6-DF65-50A65CCC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940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A169-C02E-AA8A-9226-7673F040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B3EC3-2300-F220-C9D3-BA5F4572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AF74C-B062-9D15-F778-ECB88DF9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E495D-BC15-DB4B-3E8B-B361D2F0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853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3C023-58B5-EA0D-821B-5D4268C2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C0718-C026-FA27-9DAF-A73AC0AB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DD26-5A9B-0CCA-8886-FE09EFBB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6539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F1D2-61BD-AD59-37A4-7C1B59D62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0DD07-8CC0-07AF-3435-C33375122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2D479-76D0-62D5-DBCA-DBAA64917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1DEE3-782B-FA8B-DAD9-E3F620FA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A5E2D-5A8D-E9C8-8EEF-868FF5A6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CC081-4B99-433E-B8E7-418D17AC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441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4A51-EF7E-84E4-44FD-B51E60DF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0163D-38C0-1525-5B87-02414B148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37A40-CA0C-1246-EFAF-457A89C25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0FCB-32AF-AACC-BD74-F537B8EA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AAE43-4312-00F3-76E8-FC4D61F5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9943D-9909-DD10-7A90-7863330D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9687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CB50-4216-914A-5D56-12C90C9B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D1D61-1A4E-F5D4-B427-C11876996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FDC85-F310-672D-4BEC-3FAA1099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E528F-0E33-F5DF-A5EB-5BB0B8FE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9B4A5-DB91-C1FE-0B7D-B39BB287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071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B4F1C-FB62-2FFF-EDDD-F783AAD73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73A5B-BFBC-D8F2-8E18-BEC9B24EA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3B293-2EBA-4C4C-5EC1-13AABC4B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59308-69FE-418B-EF7B-C7FB8161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21E2-58CA-971D-A706-DE66BA63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7163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4236-C265-ED93-B089-2BBEF7C1D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88C6C-7843-8A1C-0E8E-175BF6F63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0E280-B03B-A96C-1077-6D3C9CB5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6B30F-49AA-75AA-A5DE-24796E32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8EFB-EA7F-9429-E2FF-72A3ECAC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4305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BADA-A7D4-AE3D-10F1-FA60361D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E00EB-8DBD-656F-CE74-B22CEFF7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547B8-CE8C-4F74-5B22-C0851000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D6075-C1E0-1E8D-19FB-9DFF837C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AC535-4844-7F8B-FF26-4A3A2883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028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43D9-7B3B-48F7-01C1-78104399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A5A2-714F-ADE2-CEC2-6BDCB00B1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3462D-6753-4074-761D-00CF3A23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D7018-8597-A856-B201-CF394CE3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85BDD-7C8B-A540-B8FC-6BC48320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5754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ECDA-F1A9-2604-F0EB-8575E261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8ED95-B798-B544-37BF-B0E375409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82EE3-9A0E-B6C4-8056-08A3776C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467B4-9161-BD0D-BFE5-C8E764A6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C9BA7-D80C-DEF6-9566-9C0910EC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401D-A80C-CF51-FF0C-0CE7B126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217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FB8A-3A0C-0A4F-8470-278C90487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ADBAE-0D94-20EF-2B2F-BE6C7E8F6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E545-7D7F-1DBB-5964-A81498DA9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DDA3-0DC5-DF7D-2313-EC43D7023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603E7-A050-A19C-15F0-75965C8CE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BB1D7-B997-09B6-054D-D2ED03B7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1FEED-09BB-8E26-B538-15C275F3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E4279-396E-CFF6-DF65-50A65CCC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9409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A169-C02E-AA8A-9226-7673F040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B3EC3-2300-F220-C9D3-BA5F4572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AF74C-B062-9D15-F778-ECB88DF9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E495D-BC15-DB4B-3E8B-B361D2F0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8531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3C023-58B5-EA0D-821B-5D4268C2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C0718-C026-FA27-9DAF-A73AC0AB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DD26-5A9B-0CCA-8886-FE09EFBB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65396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F1D2-61BD-AD59-37A4-7C1B59D62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0DD07-8CC0-07AF-3435-C33375122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2D479-76D0-62D5-DBCA-DBAA64917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1DEE3-782B-FA8B-DAD9-E3F620FA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A5E2D-5A8D-E9C8-8EEF-868FF5A6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CC081-4B99-433E-B8E7-418D17AC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4411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4A51-EF7E-84E4-44FD-B51E60DF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0163D-38C0-1525-5B87-02414B148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37A40-CA0C-1246-EFAF-457A89C25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0FCB-32AF-AACC-BD74-F537B8EA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AAE43-4312-00F3-76E8-FC4D61F5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9943D-9909-DD10-7A90-7863330D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96871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CB50-4216-914A-5D56-12C90C9B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D1D61-1A4E-F5D4-B427-C11876996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FDC85-F310-672D-4BEC-3FAA1099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E528F-0E33-F5DF-A5EB-5BB0B8FE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9B4A5-DB91-C1FE-0B7D-B39BB287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0718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B4F1C-FB62-2FFF-EDDD-F783AAD73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73A5B-BFBC-D8F2-8E18-BEC9B24EA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3B293-2EBA-4C4C-5EC1-13AABC4B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59308-69FE-418B-EF7B-C7FB8161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21E2-58CA-971D-A706-DE66BA63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71638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4236-C265-ED93-B089-2BBEF7C1D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88C6C-7843-8A1C-0E8E-175BF6F63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0E280-B03B-A96C-1077-6D3C9CB5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6B30F-49AA-75AA-A5DE-24796E32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8EFB-EA7F-9429-E2FF-72A3ECAC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43057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BADA-A7D4-AE3D-10F1-FA60361D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E00EB-8DBD-656F-CE74-B22CEFF7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547B8-CE8C-4F74-5B22-C0851000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D6075-C1E0-1E8D-19FB-9DFF837C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AC535-4844-7F8B-FF26-4A3A2883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0284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43D9-7B3B-48F7-01C1-78104399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A5A2-714F-ADE2-CEC2-6BDCB00B1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3462D-6753-4074-761D-00CF3A23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D7018-8597-A856-B201-CF394CE3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85BDD-7C8B-A540-B8FC-6BC48320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57543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ECDA-F1A9-2604-F0EB-8575E261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8ED95-B798-B544-37BF-B0E375409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82EE3-9A0E-B6C4-8056-08A3776C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467B4-9161-BD0D-BFE5-C8E764A6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C9BA7-D80C-DEF6-9566-9C0910EC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401D-A80C-CF51-FF0C-0CE7B126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2171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FB8A-3A0C-0A4F-8470-278C90487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ADBAE-0D94-20EF-2B2F-BE6C7E8F6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E545-7D7F-1DBB-5964-A81498DA9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DDA3-0DC5-DF7D-2313-EC43D7023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603E7-A050-A19C-15F0-75965C8CE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BB1D7-B997-09B6-054D-D2ED03B7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1FEED-09BB-8E26-B538-15C275F3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E4279-396E-CFF6-DF65-50A65CCC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94090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A169-C02E-AA8A-9226-7673F040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B3EC3-2300-F220-C9D3-BA5F4572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AF74C-B062-9D15-F778-ECB88DF9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E495D-BC15-DB4B-3E8B-B361D2F0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85313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3C023-58B5-EA0D-821B-5D4268C2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C0718-C026-FA27-9DAF-A73AC0AB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DD26-5A9B-0CCA-8886-FE09EFBB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65396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F1D2-61BD-AD59-37A4-7C1B59D62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0DD07-8CC0-07AF-3435-C33375122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2D479-76D0-62D5-DBCA-DBAA64917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1DEE3-782B-FA8B-DAD9-E3F620FA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A5E2D-5A8D-E9C8-8EEF-868FF5A6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CC081-4B99-433E-B8E7-418D17AC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44111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4A51-EF7E-84E4-44FD-B51E60DF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0163D-38C0-1525-5B87-02414B148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37A40-CA0C-1246-EFAF-457A89C25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0FCB-32AF-AACC-BD74-F537B8EA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AAE43-4312-00F3-76E8-FC4D61F5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9943D-9909-DD10-7A90-7863330D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9687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CB50-4216-914A-5D56-12C90C9B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D1D61-1A4E-F5D4-B427-C11876996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FDC85-F310-672D-4BEC-3FAA1099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E528F-0E33-F5DF-A5EB-5BB0B8FE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9B4A5-DB91-C1FE-0B7D-B39BB287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0718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B4F1C-FB62-2FFF-EDDD-F783AAD73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73A5B-BFBC-D8F2-8E18-BEC9B24EA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3B293-2EBA-4C4C-5EC1-13AABC4B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59308-69FE-418B-EF7B-C7FB8161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21E2-58CA-971D-A706-DE66BA63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71638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4236-C265-ED93-B089-2BBEF7C1D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88C6C-7843-8A1C-0E8E-175BF6F63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0E280-B03B-A96C-1077-6D3C9CB5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6B30F-49AA-75AA-A5DE-24796E32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8EFB-EA7F-9429-E2FF-72A3ECAC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43057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BADA-A7D4-AE3D-10F1-FA60361D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E00EB-8DBD-656F-CE74-B22CEFF7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547B8-CE8C-4F74-5B22-C0851000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D6075-C1E0-1E8D-19FB-9DFF837C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AC535-4844-7F8B-FF26-4A3A2883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0284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43D9-7B3B-48F7-01C1-78104399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A5A2-714F-ADE2-CEC2-6BDCB00B1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3462D-6753-4074-761D-00CF3A23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D7018-8597-A856-B201-CF394CE3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85BDD-7C8B-A540-B8FC-6BC48320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57543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ECDA-F1A9-2604-F0EB-8575E261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8ED95-B798-B544-37BF-B0E375409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82EE3-9A0E-B6C4-8056-08A3776C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467B4-9161-BD0D-BFE5-C8E764A6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C9BA7-D80C-DEF6-9566-9C0910EC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401D-A80C-CF51-FF0C-0CE7B126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2171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FB8A-3A0C-0A4F-8470-278C90487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ADBAE-0D94-20EF-2B2F-BE6C7E8F6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E545-7D7F-1DBB-5964-A81498DA9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DDA3-0DC5-DF7D-2313-EC43D7023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603E7-A050-A19C-15F0-75965C8CE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BB1D7-B997-09B6-054D-D2ED03B7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1FEED-09BB-8E26-B538-15C275F3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E4279-396E-CFF6-DF65-50A65CCC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94090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A169-C02E-AA8A-9226-7673F040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B3EC3-2300-F220-C9D3-BA5F4572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AF74C-B062-9D15-F778-ECB88DF9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E495D-BC15-DB4B-3E8B-B361D2F0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85313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3C023-58B5-EA0D-821B-5D4268C2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C0718-C026-FA27-9DAF-A73AC0AB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DD26-5A9B-0CCA-8886-FE09EFBB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65396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F1D2-61BD-AD59-37A4-7C1B59D62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0DD07-8CC0-07AF-3435-C33375122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2D479-76D0-62D5-DBCA-DBAA64917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1DEE3-782B-FA8B-DAD9-E3F620FA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A5E2D-5A8D-E9C8-8EEF-868FF5A6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CC081-4B99-433E-B8E7-418D17AC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44111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4A51-EF7E-84E4-44FD-B51E60DF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0163D-38C0-1525-5B87-02414B148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37A40-CA0C-1246-EFAF-457A89C25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0FCB-32AF-AACC-BD74-F537B8EA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AAE43-4312-00F3-76E8-FC4D61F5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9943D-9909-DD10-7A90-7863330D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96871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CB50-4216-914A-5D56-12C90C9B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D1D61-1A4E-F5D4-B427-C11876996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FDC85-F310-672D-4BEC-3FAA1099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E528F-0E33-F5DF-A5EB-5BB0B8FE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9B4A5-DB91-C1FE-0B7D-B39BB287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07180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B4F1C-FB62-2FFF-EDDD-F783AAD73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73A5B-BFBC-D8F2-8E18-BEC9B24EA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3B293-2EBA-4C4C-5EC1-13AABC4B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59308-69FE-418B-EF7B-C7FB8161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21E2-58CA-971D-A706-DE66BA63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71638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4236-C265-ED93-B089-2BBEF7C1D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88C6C-7843-8A1C-0E8E-175BF6F63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0E280-B03B-A96C-1077-6D3C9CB5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6B30F-49AA-75AA-A5DE-24796E32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8EFB-EA7F-9429-E2FF-72A3ECAC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43057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BADA-A7D4-AE3D-10F1-FA60361D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E00EB-8DBD-656F-CE74-B22CEFF7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547B8-CE8C-4F74-5B22-C0851000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D6075-C1E0-1E8D-19FB-9DFF837C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AC535-4844-7F8B-FF26-4A3A2883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0284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43D9-7B3B-48F7-01C1-78104399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A5A2-714F-ADE2-CEC2-6BDCB00B1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3462D-6753-4074-761D-00CF3A23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D7018-8597-A856-B201-CF394CE3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85BDD-7C8B-A540-B8FC-6BC48320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57543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ECDA-F1A9-2604-F0EB-8575E261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8ED95-B798-B544-37BF-B0E375409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82EE3-9A0E-B6C4-8056-08A3776C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467B4-9161-BD0D-BFE5-C8E764A6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C9BA7-D80C-DEF6-9566-9C0910EC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401D-A80C-CF51-FF0C-0CE7B126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2171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FB8A-3A0C-0A4F-8470-278C90487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ADBAE-0D94-20EF-2B2F-BE6C7E8F6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E545-7D7F-1DBB-5964-A81498DA9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DDA3-0DC5-DF7D-2313-EC43D7023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603E7-A050-A19C-15F0-75965C8CE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BB1D7-B997-09B6-054D-D2ED03B7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1FEED-09BB-8E26-B538-15C275F3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E4279-396E-CFF6-DF65-50A65CCC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94090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A169-C02E-AA8A-9226-7673F040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B3EC3-2300-F220-C9D3-BA5F4572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AF74C-B062-9D15-F778-ECB88DF9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E495D-BC15-DB4B-3E8B-B361D2F0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85313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3C023-58B5-EA0D-821B-5D4268C2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C0718-C026-FA27-9DAF-A73AC0AB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DD26-5A9B-0CCA-8886-FE09EFBB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65396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F1D2-61BD-AD59-37A4-7C1B59D62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0DD07-8CC0-07AF-3435-C33375122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2D479-76D0-62D5-DBCA-DBAA64917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1DEE3-782B-FA8B-DAD9-E3F620FA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A5E2D-5A8D-E9C8-8EEF-868FF5A6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CC081-4B99-433E-B8E7-418D17AC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44111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4A51-EF7E-84E4-44FD-B51E60DF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0163D-38C0-1525-5B87-02414B148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37A40-CA0C-1246-EFAF-457A89C25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0FCB-32AF-AACC-BD74-F537B8EA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AAE43-4312-00F3-76E8-FC4D61F5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9943D-9909-DD10-7A90-7863330D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96871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CB50-4216-914A-5D56-12C90C9B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D1D61-1A4E-F5D4-B427-C11876996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FDC85-F310-672D-4BEC-3FAA1099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E528F-0E33-F5DF-A5EB-5BB0B8FE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9B4A5-DB91-C1FE-0B7D-B39BB287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071802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B4F1C-FB62-2FFF-EDDD-F783AAD73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73A5B-BFBC-D8F2-8E18-BEC9B24EA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3B293-2EBA-4C4C-5EC1-13AABC4B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59308-69FE-418B-EF7B-C7FB8161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21E2-58CA-971D-A706-DE66BA63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71638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4236-C265-ED93-B089-2BBEF7C1D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88C6C-7843-8A1C-0E8E-175BF6F63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0E280-B03B-A96C-1077-6D3C9CB5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6B30F-49AA-75AA-A5DE-24796E32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8EFB-EA7F-9429-E2FF-72A3ECAC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43057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BADA-A7D4-AE3D-10F1-FA60361D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E00EB-8DBD-656F-CE74-B22CEFF7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547B8-CE8C-4F74-5B22-C0851000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D6075-C1E0-1E8D-19FB-9DFF837C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AC535-4844-7F8B-FF26-4A3A2883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00284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43D9-7B3B-48F7-01C1-78104399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A5A2-714F-ADE2-CEC2-6BDCB00B1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3462D-6753-4074-761D-00CF3A23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D7018-8597-A856-B201-CF394CE3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85BDD-7C8B-A540-B8FC-6BC48320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57543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ECDA-F1A9-2604-F0EB-8575E261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8ED95-B798-B544-37BF-B0E375409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82EE3-9A0E-B6C4-8056-08A3776C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467B4-9161-BD0D-BFE5-C8E764A6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C9BA7-D80C-DEF6-9566-9C0910EC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401D-A80C-CF51-FF0C-0CE7B126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21712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FB8A-3A0C-0A4F-8470-278C90487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ADBAE-0D94-20EF-2B2F-BE6C7E8F6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E545-7D7F-1DBB-5964-A81498DA9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DDA3-0DC5-DF7D-2313-EC43D7023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603E7-A050-A19C-15F0-75965C8CE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BB1D7-B997-09B6-054D-D2ED03B7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1FEED-09BB-8E26-B538-15C275F3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E4279-396E-CFF6-DF65-50A65CCC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940906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A169-C02E-AA8A-9226-7673F040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B3EC3-2300-F220-C9D3-BA5F4572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AF74C-B062-9D15-F778-ECB88DF9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E495D-BC15-DB4B-3E8B-B361D2F0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853131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3C023-58B5-EA0D-821B-5D4268C2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C0718-C026-FA27-9DAF-A73AC0AB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DD26-5A9B-0CCA-8886-FE09EFBB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65396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F1D2-61BD-AD59-37A4-7C1B59D62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0DD07-8CC0-07AF-3435-C33375122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2D479-76D0-62D5-DBCA-DBAA64917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1DEE3-782B-FA8B-DAD9-E3F620FA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A5E2D-5A8D-E9C8-8EEF-868FF5A6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CC081-4B99-433E-B8E7-418D17AC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441119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4A51-EF7E-84E4-44FD-B51E60DF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0163D-38C0-1525-5B87-02414B148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37A40-CA0C-1246-EFAF-457A89C25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0FCB-32AF-AACC-BD74-F537B8EA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AAE43-4312-00F3-76E8-FC4D61F5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9943D-9909-DD10-7A90-7863330D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968716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CB50-4216-914A-5D56-12C90C9B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D1D61-1A4E-F5D4-B427-C11876996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FDC85-F310-672D-4BEC-3FAA1099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E528F-0E33-F5DF-A5EB-5BB0B8FE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9B4A5-DB91-C1FE-0B7D-B39BB287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0718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B4F1C-FB62-2FFF-EDDD-F783AAD73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73A5B-BFBC-D8F2-8E18-BEC9B24EA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3B293-2EBA-4C4C-5EC1-13AABC4B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59308-69FE-418B-EF7B-C7FB8161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21E2-58CA-971D-A706-DE66BA63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716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9799A0-BFDA-F87A-97A4-0909C543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DD64E-A4D0-BF89-8168-8BB2A732E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E4577-F540-171F-2432-921009A45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56F36-5DE1-CBA0-EF34-BF5F30781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75EA6-A283-DA87-72BE-F82BF65E8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6860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9799A0-BFDA-F87A-97A4-0909C543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DD64E-A4D0-BF89-8168-8BB2A732E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E4577-F540-171F-2432-921009A45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56F36-5DE1-CBA0-EF34-BF5F30781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75EA6-A283-DA87-72BE-F82BF65E8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  <p:sp>
        <p:nvSpPr>
          <p:cNvPr id="900" name="LeftAccent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AccentSquare"/>
          <p:cNvSpPr/>
          <p:nvPr/>
        </p:nvSpPr>
        <p:spPr>
          <a:xfrm>
            <a:off x="0" y="6400800"/>
            <a:ext cx="228600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60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43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5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9799A0-BFDA-F87A-97A4-0909C543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DD64E-A4D0-BF89-8168-8BB2A732E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E4577-F540-171F-2432-921009A45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56F36-5DE1-CBA0-EF34-BF5F30781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75EA6-A283-DA87-72BE-F82BF65E8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  <p:sp>
        <p:nvSpPr>
          <p:cNvPr id="900" name="LeftAccent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AccentSquare"/>
          <p:cNvSpPr/>
          <p:nvPr/>
        </p:nvSpPr>
        <p:spPr>
          <a:xfrm>
            <a:off x="0" y="6400800"/>
            <a:ext cx="228600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60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43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5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9799A0-BFDA-F87A-97A4-0909C543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DD64E-A4D0-BF89-8168-8BB2A732E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E4577-F540-171F-2432-921009A45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56F36-5DE1-CBA0-EF34-BF5F30781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75EA6-A283-DA87-72BE-F82BF65E8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  <p:sp>
        <p:nvSpPr>
          <p:cNvPr id="900" name="LeftAccent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AccentSquare"/>
          <p:cNvSpPr/>
          <p:nvPr/>
        </p:nvSpPr>
        <p:spPr>
          <a:xfrm>
            <a:off x="0" y="6400800"/>
            <a:ext cx="228600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60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A243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5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9799A0-BFDA-F87A-97A4-0909C543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DD64E-A4D0-BF89-8168-8BB2A732E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E4577-F540-171F-2432-921009A45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56F36-5DE1-CBA0-EF34-BF5F30781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75EA6-A283-DA87-72BE-F82BF65E8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  <p:sp>
        <p:nvSpPr>
          <p:cNvPr id="900" name="LeftAccent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AccentSquare"/>
          <p:cNvSpPr/>
          <p:nvPr/>
        </p:nvSpPr>
        <p:spPr>
          <a:xfrm>
            <a:off x="0" y="6400800"/>
            <a:ext cx="228600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60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A243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5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9799A0-BFDA-F87A-97A4-0909C543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DD64E-A4D0-BF89-8168-8BB2A732E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E4577-F540-171F-2432-921009A45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08491-FFE7-4B05-A37A-F77A4225C68C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56F36-5DE1-CBA0-EF34-BF5F30781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75EA6-A283-DA87-72BE-F82BF65E8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537E1-7C69-479A-8D2F-41065C81DD77}" type="slidenum">
              <a:rPr lang="vi-VN" smtClean="0"/>
              <a:t>‹#›</a:t>
            </a:fld>
            <a:endParaRPr lang="vi-VN"/>
          </a:p>
        </p:txBody>
      </p:sp>
      <p:sp>
        <p:nvSpPr>
          <p:cNvPr id="900" name="LeftAccent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AccentSquare"/>
          <p:cNvSpPr/>
          <p:nvPr/>
        </p:nvSpPr>
        <p:spPr>
          <a:xfrm>
            <a:off x="0" y="6400800"/>
            <a:ext cx="228600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60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A2438"/>
          </a:solidFill>
          <a:latin typeface="Segoe UI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5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0.svg"/><Relationship Id="rId7" Type="http://schemas.openxmlformats.org/officeDocument/2006/relationships/image" Target="../media/image3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9" Type="http://schemas.openxmlformats.org/officeDocument/2006/relationships/image" Target="../media/image44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6ECBC-415C-90E6-F184-5EE507AC56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vi-VN" sz="6600" dirty="0">
                <a:solidFill>
                  <a:srgbClr val="2563EB"/>
                </a:solidFill>
                <a:cs typeface="Segoe UI"/>
              </a:rPr>
              <a:t>Auto-Wash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DCAF3-5986-CA68-B870-B99B167543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Aft>
                <a:spcPts val="600"/>
              </a:spcAft>
            </a:pPr>
            <a:r>
              <a:rPr lang="vi-VN" sz="2200" b="1" dirty="0">
                <a:solidFill>
                  <a:srgbClr val="1A2438"/>
                </a:solidFill>
              </a:rPr>
              <a:t>Hệ thống quản lý trung tâm rửa xe tự động</a:t>
            </a:r>
          </a:p>
          <a:p>
            <a:pPr algn="ctr">
              <a:spcAft>
                <a:spcPts val="400"/>
              </a:spcAft>
            </a:pPr>
            <a:r>
              <a:rPr lang="vi-VN" sz="1600" dirty="0">
                <a:solidFill>
                  <a:srgbClr val="33415C"/>
                </a:solidFill>
              </a:rPr>
              <a:t>Đặc tả Yêu cầu Phần mềm (SRS) — Phiên bản 2.8</a:t>
            </a:r>
          </a:p>
          <a:p>
            <a:pPr algn="ctr"/>
            <a:r>
              <a:rPr lang="vi-VN" sz="1400" dirty="0">
                <a:solidFill>
                  <a:srgbClr val="0EA5E9"/>
                </a:solidFill>
              </a:rPr>
              <a:t>FPT University </a:t>
            </a:r>
            <a:r>
              <a:rPr lang="vi-VN" sz="1400">
                <a:solidFill>
                  <a:srgbClr val="0EA5E9"/>
                </a:solidFill>
              </a:rPr>
              <a:t>· SWR302 </a:t>
            </a:r>
            <a:r>
              <a:rPr lang="vi-VN" sz="1400" dirty="0">
                <a:solidFill>
                  <a:srgbClr val="0EA5E9"/>
                </a:solidFill>
              </a:rPr>
              <a:t>· TP. Hồ Chí Minh, tháng 7/2026</a:t>
            </a:r>
          </a:p>
        </p:txBody>
      </p:sp>
      <p:pic>
        <p:nvPicPr>
          <p:cNvPr id="4" name="Graphic 4" descr="Car wash logo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4200" y="2540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4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5C06-6D2C-65C4-9100-558BDB5CC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Bối cảnh &amp; Mục đích</a:t>
            </a:r>
          </a:p>
        </p:txBody>
      </p:sp>
      <p:sp>
        <p:nvSpPr>
          <p:cNvPr id="50" name="card"/>
          <p:cNvSpPr/>
          <p:nvPr/>
        </p:nvSpPr>
        <p:spPr>
          <a:xfrm>
            <a:off x="838200" y="19050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h"/>
          <p:cNvSpPr/>
          <p:nvPr/>
        </p:nvSpPr>
        <p:spPr>
          <a:xfrm>
            <a:off x="1752600" y="21590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vi-VN" sz="1800" b="1" dirty="0">
                <a:solidFill>
                  <a:srgbClr val="1A2438"/>
                </a:solidFill>
              </a:rPr>
              <a:t>Bài toán</a:t>
            </a:r>
          </a:p>
        </p:txBody>
      </p:sp>
      <p:sp>
        <p:nvSpPr>
          <p:cNvPr id="52" name="b"/>
          <p:cNvSpPr/>
          <p:nvPr/>
        </p:nvSpPr>
        <p:spPr>
          <a:xfrm>
            <a:off x="1117600" y="27940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vi-VN" sz="1450" dirty="0">
                <a:solidFill>
                  <a:srgbClr val="33415C"/>
                </a:solidFill>
              </a:rPr>
              <a:t>Số hóa vận hành trung tâm rửa xe tự động — từ đặt lịch của khách đến quản lý hàng chờ tại xưởng.</a:t>
            </a:r>
          </a:p>
        </p:txBody>
      </p:sp>
      <p:sp>
        <p:nvSpPr>
          <p:cNvPr id="53" name="card"/>
          <p:cNvSpPr/>
          <p:nvPr/>
        </p:nvSpPr>
        <p:spPr>
          <a:xfrm>
            <a:off x="6337300" y="19050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h"/>
          <p:cNvSpPr/>
          <p:nvPr/>
        </p:nvSpPr>
        <p:spPr>
          <a:xfrm>
            <a:off x="7251700" y="21590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vi-VN" sz="1800" b="1" dirty="0">
                <a:solidFill>
                  <a:srgbClr val="1A2438"/>
                </a:solidFill>
              </a:rPr>
              <a:t>Mục tiêu SRS</a:t>
            </a:r>
          </a:p>
        </p:txBody>
      </p:sp>
      <p:sp>
        <p:nvSpPr>
          <p:cNvPr id="55" name="b"/>
          <p:cNvSpPr/>
          <p:nvPr/>
        </p:nvSpPr>
        <p:spPr>
          <a:xfrm>
            <a:off x="6616700" y="27940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vi-VN" sz="1450" dirty="0">
                <a:solidFill>
                  <a:srgbClr val="33415C"/>
                </a:solidFill>
              </a:rPr>
              <a:t>Xác định phạm vi nghiệp vụ, thống nhất yêu cầu chức năng &amp; phi chức năng, làm cơ sở kiểm thử chấp nhận (UAT).</a:t>
            </a:r>
          </a:p>
        </p:txBody>
      </p:sp>
      <p:sp>
        <p:nvSpPr>
          <p:cNvPr id="56" name="card"/>
          <p:cNvSpPr/>
          <p:nvPr/>
        </p:nvSpPr>
        <p:spPr>
          <a:xfrm>
            <a:off x="838200" y="42545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h"/>
          <p:cNvSpPr/>
          <p:nvPr/>
        </p:nvSpPr>
        <p:spPr>
          <a:xfrm>
            <a:off x="1752600" y="45085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vi-VN" sz="1800" b="1" dirty="0">
                <a:solidFill>
                  <a:srgbClr val="1A2438"/>
                </a:solidFill>
              </a:rPr>
              <a:t>Sản phẩm</a:t>
            </a:r>
          </a:p>
        </p:txBody>
      </p:sp>
      <p:sp>
        <p:nvSpPr>
          <p:cNvPr id="58" name="b"/>
          <p:cNvSpPr/>
          <p:nvPr/>
        </p:nvSpPr>
        <p:spPr>
          <a:xfrm>
            <a:off x="1117600" y="51435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vi-VN" sz="1450" dirty="0">
                <a:solidFill>
                  <a:srgbClr val="33415C"/>
                </a:solidFill>
              </a:rPr>
              <a:t>Ứng dụng web — Khách hàng dùng Mobile Web, Nhân viên dùng Desktop.</a:t>
            </a:r>
          </a:p>
        </p:txBody>
      </p:sp>
      <p:sp>
        <p:nvSpPr>
          <p:cNvPr id="59" name="card"/>
          <p:cNvSpPr/>
          <p:nvPr/>
        </p:nvSpPr>
        <p:spPr>
          <a:xfrm>
            <a:off x="6337300" y="42545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h"/>
          <p:cNvSpPr/>
          <p:nvPr/>
        </p:nvSpPr>
        <p:spPr>
          <a:xfrm>
            <a:off x="7251700" y="45085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vi-VN" sz="1800" b="1" dirty="0">
                <a:solidFill>
                  <a:srgbClr val="1A2438"/>
                </a:solidFill>
              </a:rPr>
              <a:t>Chuẩn tham chiếu</a:t>
            </a:r>
          </a:p>
        </p:txBody>
      </p:sp>
      <p:sp>
        <p:nvSpPr>
          <p:cNvPr id="61" name="b"/>
          <p:cNvSpPr/>
          <p:nvPr/>
        </p:nvSpPr>
        <p:spPr>
          <a:xfrm>
            <a:off x="6616700" y="51435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vi-VN" sz="1450" dirty="0">
                <a:solidFill>
                  <a:srgbClr val="33415C"/>
                </a:solidFill>
              </a:rPr>
              <a:t>Tuân theo tiêu chuẩn tài liệu SRS IEEE 830-1998.</a:t>
            </a:r>
          </a:p>
        </p:txBody>
      </p:sp>
      <p:pic>
        <p:nvPicPr>
          <p:cNvPr id="62" name="Graphic 62" descr="Problem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2133600"/>
            <a:ext cx="533400" cy="533400"/>
          </a:xfrm>
          <a:prstGeom prst="rect">
            <a:avLst/>
          </a:prstGeom>
        </p:spPr>
      </p:pic>
      <p:pic>
        <p:nvPicPr>
          <p:cNvPr id="63" name="Graphic 63" descr="Goal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1300" y="2133600"/>
            <a:ext cx="533400" cy="533400"/>
          </a:xfrm>
          <a:prstGeom prst="rect">
            <a:avLst/>
          </a:prstGeom>
        </p:spPr>
      </p:pic>
      <p:pic>
        <p:nvPicPr>
          <p:cNvPr id="64" name="Graphic 64" descr="Product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200" y="4483100"/>
            <a:ext cx="533400" cy="533400"/>
          </a:xfrm>
          <a:prstGeom prst="rect">
            <a:avLst/>
          </a:prstGeom>
        </p:spPr>
      </p:pic>
      <p:pic>
        <p:nvPicPr>
          <p:cNvPr id="65" name="Graphic 65" descr="Standard ic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1300" y="44831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91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3F25-CF2E-526D-B2FA-DA4016F7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Segoe UI"/>
                <a:cs typeface="Segoe UI"/>
              </a:rPr>
              <a:t>Kiến trúc công nghệ</a:t>
            </a:r>
          </a:p>
        </p:txBody>
      </p:sp>
      <p:sp>
        <p:nvSpPr>
          <p:cNvPr id="50" name="r"/>
          <p:cNvSpPr/>
          <p:nvPr/>
        </p:nvSpPr>
        <p:spPr>
          <a:xfrm>
            <a:off x="838200" y="19050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r"/>
          <p:cNvSpPr/>
          <p:nvPr/>
        </p:nvSpPr>
        <p:spPr>
          <a:xfrm>
            <a:off x="838200" y="1905000"/>
            <a:ext cx="101600" cy="736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"/>
          <p:cNvSpPr/>
          <p:nvPr/>
        </p:nvSpPr>
        <p:spPr>
          <a:xfrm>
            <a:off x="1854200" y="19050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600" b="1" dirty="0">
                <a:solidFill>
                  <a:srgbClr val="2563EB"/>
                </a:solidFill>
              </a:rPr>
              <a:t>Frontend</a:t>
            </a:r>
          </a:p>
        </p:txBody>
      </p:sp>
      <p:sp>
        <p:nvSpPr>
          <p:cNvPr id="53" name="r"/>
          <p:cNvSpPr/>
          <p:nvPr/>
        </p:nvSpPr>
        <p:spPr>
          <a:xfrm>
            <a:off x="4292600" y="20574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"/>
          <p:cNvSpPr/>
          <p:nvPr/>
        </p:nvSpPr>
        <p:spPr>
          <a:xfrm>
            <a:off x="4546600" y="19050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500" b="0" dirty="0">
                <a:solidFill>
                  <a:srgbClr val="33415C"/>
                </a:solidFill>
              </a:rPr>
              <a:t>React 18 + Vite — SPA, tối ưu cho mobile</a:t>
            </a:r>
          </a:p>
        </p:txBody>
      </p:sp>
      <p:sp>
        <p:nvSpPr>
          <p:cNvPr id="55" name="r"/>
          <p:cNvSpPr/>
          <p:nvPr/>
        </p:nvSpPr>
        <p:spPr>
          <a:xfrm>
            <a:off x="838200" y="28194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r"/>
          <p:cNvSpPr/>
          <p:nvPr/>
        </p:nvSpPr>
        <p:spPr>
          <a:xfrm>
            <a:off x="838200" y="2819400"/>
            <a:ext cx="101600" cy="736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t"/>
          <p:cNvSpPr/>
          <p:nvPr/>
        </p:nvSpPr>
        <p:spPr>
          <a:xfrm>
            <a:off x="1854200" y="28194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600" b="1" dirty="0">
                <a:solidFill>
                  <a:srgbClr val="1D4ED8"/>
                </a:solidFill>
              </a:rPr>
              <a:t>Backend</a:t>
            </a:r>
          </a:p>
        </p:txBody>
      </p:sp>
      <p:sp>
        <p:nvSpPr>
          <p:cNvPr id="58" name="r"/>
          <p:cNvSpPr/>
          <p:nvPr/>
        </p:nvSpPr>
        <p:spPr>
          <a:xfrm>
            <a:off x="4292600" y="29718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t"/>
          <p:cNvSpPr/>
          <p:nvPr/>
        </p:nvSpPr>
        <p:spPr>
          <a:xfrm>
            <a:off x="4546600" y="28194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500" b="0" dirty="0">
                <a:solidFill>
                  <a:srgbClr val="33415C"/>
                </a:solidFill>
              </a:rPr>
              <a:t>ASP.NET Core 8 · Entity Framework Core (Npgsql)</a:t>
            </a:r>
          </a:p>
        </p:txBody>
      </p:sp>
      <p:sp>
        <p:nvSpPr>
          <p:cNvPr id="60" name="r"/>
          <p:cNvSpPr/>
          <p:nvPr/>
        </p:nvSpPr>
        <p:spPr>
          <a:xfrm>
            <a:off x="838200" y="37338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r"/>
          <p:cNvSpPr/>
          <p:nvPr/>
        </p:nvSpPr>
        <p:spPr>
          <a:xfrm>
            <a:off x="838200" y="3733800"/>
            <a:ext cx="101600" cy="736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t"/>
          <p:cNvSpPr/>
          <p:nvPr/>
        </p:nvSpPr>
        <p:spPr>
          <a:xfrm>
            <a:off x="1854200" y="37338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600" b="1" dirty="0">
                <a:solidFill>
                  <a:srgbClr val="0EA5E9"/>
                </a:solidFill>
              </a:rPr>
              <a:t>Cơ sở dữ liệu</a:t>
            </a:r>
          </a:p>
        </p:txBody>
      </p:sp>
      <p:sp>
        <p:nvSpPr>
          <p:cNvPr id="63" name="r"/>
          <p:cNvSpPr/>
          <p:nvPr/>
        </p:nvSpPr>
        <p:spPr>
          <a:xfrm>
            <a:off x="4292600" y="38862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t"/>
          <p:cNvSpPr/>
          <p:nvPr/>
        </p:nvSpPr>
        <p:spPr>
          <a:xfrm>
            <a:off x="4546600" y="37338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500" b="0" dirty="0">
                <a:solidFill>
                  <a:srgbClr val="33415C"/>
                </a:solidFill>
              </a:rPr>
              <a:t>PostgreSQL qua Supabase — bắt buộc SSL</a:t>
            </a:r>
          </a:p>
        </p:txBody>
      </p:sp>
      <p:sp>
        <p:nvSpPr>
          <p:cNvPr id="65" name="r"/>
          <p:cNvSpPr/>
          <p:nvPr/>
        </p:nvSpPr>
        <p:spPr>
          <a:xfrm>
            <a:off x="838200" y="46482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r"/>
          <p:cNvSpPr/>
          <p:nvPr/>
        </p:nvSpPr>
        <p:spPr>
          <a:xfrm>
            <a:off x="838200" y="4648200"/>
            <a:ext cx="101600" cy="736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t"/>
          <p:cNvSpPr/>
          <p:nvPr/>
        </p:nvSpPr>
        <p:spPr>
          <a:xfrm>
            <a:off x="1854200" y="46482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600" b="1" dirty="0">
                <a:solidFill>
                  <a:srgbClr val="6366F1"/>
                </a:solidFill>
              </a:rPr>
              <a:t>Giao tiếp</a:t>
            </a:r>
          </a:p>
        </p:txBody>
      </p:sp>
      <p:sp>
        <p:nvSpPr>
          <p:cNvPr id="68" name="r"/>
          <p:cNvSpPr/>
          <p:nvPr/>
        </p:nvSpPr>
        <p:spPr>
          <a:xfrm>
            <a:off x="4292600" y="48006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"/>
          <p:cNvSpPr/>
          <p:nvPr/>
        </p:nvSpPr>
        <p:spPr>
          <a:xfrm>
            <a:off x="4546600" y="46482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500" b="0" dirty="0">
                <a:solidFill>
                  <a:srgbClr val="33415C"/>
                </a:solidFill>
              </a:rPr>
              <a:t>JSON REST API</a:t>
            </a:r>
          </a:p>
        </p:txBody>
      </p:sp>
      <p:sp>
        <p:nvSpPr>
          <p:cNvPr id="70" name="r"/>
          <p:cNvSpPr/>
          <p:nvPr/>
        </p:nvSpPr>
        <p:spPr>
          <a:xfrm>
            <a:off x="838200" y="55626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r"/>
          <p:cNvSpPr/>
          <p:nvPr/>
        </p:nvSpPr>
        <p:spPr>
          <a:xfrm>
            <a:off x="838200" y="5562600"/>
            <a:ext cx="101600" cy="736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t"/>
          <p:cNvSpPr/>
          <p:nvPr/>
        </p:nvSpPr>
        <p:spPr>
          <a:xfrm>
            <a:off x="1854200" y="55626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600" b="1" dirty="0">
                <a:solidFill>
                  <a:srgbClr val="10B981"/>
                </a:solidFill>
              </a:rPr>
              <a:t>Phiên</a:t>
            </a:r>
          </a:p>
        </p:txBody>
      </p:sp>
      <p:sp>
        <p:nvSpPr>
          <p:cNvPr id="73" name="r"/>
          <p:cNvSpPr/>
          <p:nvPr/>
        </p:nvSpPr>
        <p:spPr>
          <a:xfrm>
            <a:off x="4292600" y="57150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t"/>
          <p:cNvSpPr/>
          <p:nvPr/>
        </p:nvSpPr>
        <p:spPr>
          <a:xfrm>
            <a:off x="4546600" y="55626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500" b="0" dirty="0">
                <a:solidFill>
                  <a:srgbClr val="33415C"/>
                </a:solidFill>
              </a:rPr>
              <a:t>Session phía máy chủ — stateless, sẵn sàng cân bằng tải</a:t>
            </a:r>
          </a:p>
        </p:txBody>
      </p:sp>
      <p:pic>
        <p:nvPicPr>
          <p:cNvPr id="75" name="Graphic 75" descr="Fronten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057400"/>
            <a:ext cx="431800" cy="431800"/>
          </a:xfrm>
          <a:prstGeom prst="rect">
            <a:avLst/>
          </a:prstGeom>
        </p:spPr>
      </p:pic>
      <p:pic>
        <p:nvPicPr>
          <p:cNvPr id="76" name="Graphic 76" descr="Backend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971800"/>
            <a:ext cx="431800" cy="431800"/>
          </a:xfrm>
          <a:prstGeom prst="rect">
            <a:avLst/>
          </a:prstGeom>
        </p:spPr>
      </p:pic>
      <p:pic>
        <p:nvPicPr>
          <p:cNvPr id="77" name="Graphic 77" descr="Databas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3886200"/>
            <a:ext cx="431800" cy="431800"/>
          </a:xfrm>
          <a:prstGeom prst="rect">
            <a:avLst/>
          </a:prstGeom>
        </p:spPr>
      </p:pic>
      <p:pic>
        <p:nvPicPr>
          <p:cNvPr id="78" name="Graphic 78" descr="API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4800600"/>
            <a:ext cx="431800" cy="431800"/>
          </a:xfrm>
          <a:prstGeom prst="rect">
            <a:avLst/>
          </a:prstGeom>
        </p:spPr>
      </p:pic>
      <p:pic>
        <p:nvPicPr>
          <p:cNvPr id="79" name="Graphic 79" descr="Session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0" y="5715000"/>
            <a:ext cx="4318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86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1A9A-AC3E-0D4B-649B-4D4B68A10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Tác nhân &amp; Hệ thống ngoài</a:t>
            </a:r>
          </a:p>
        </p:txBody>
      </p:sp>
      <p:sp>
        <p:nvSpPr>
          <p:cNvPr id="50" name="s"/>
          <p:cNvSpPr/>
          <p:nvPr/>
        </p:nvSpPr>
        <p:spPr>
          <a:xfrm>
            <a:off x="838200" y="1905000"/>
            <a:ext cx="3429000" cy="31750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"/>
          <p:cNvSpPr/>
          <p:nvPr/>
        </p:nvSpPr>
        <p:spPr>
          <a:xfrm>
            <a:off x="2209800" y="215900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"/>
          <p:cNvSpPr/>
          <p:nvPr/>
        </p:nvSpPr>
        <p:spPr>
          <a:xfrm>
            <a:off x="965200" y="29464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vi-VN" sz="1700" b="1" dirty="0">
                <a:solidFill>
                  <a:srgbClr val="2563EB"/>
                </a:solidFill>
              </a:rPr>
              <a:t>Nhân viên (Staff)</a:t>
            </a:r>
          </a:p>
        </p:txBody>
      </p:sp>
      <p:sp>
        <p:nvSpPr>
          <p:cNvPr id="53" name="t"/>
          <p:cNvSpPr/>
          <p:nvPr/>
        </p:nvSpPr>
        <p:spPr>
          <a:xfrm>
            <a:off x="1117600" y="3429000"/>
            <a:ext cx="2921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vi-VN" sz="1350" dirty="0">
                <a:solidFill>
                  <a:srgbClr val="33415C"/>
                </a:solidFill>
              </a:rPr>
              <a:t>Check-in / check-out xe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vi-VN" sz="1350" dirty="0">
                <a:solidFill>
                  <a:srgbClr val="33415C"/>
                </a:solidFill>
              </a:rPr>
              <a:t>Quét biển số, quản lý hàng chờ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vi-VN" sz="1350" dirty="0">
                <a:solidFill>
                  <a:srgbClr val="33415C"/>
                </a:solidFill>
              </a:rPr>
              <a:t>Xác nhận / hủy đặt lịch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vi-VN" sz="1350" dirty="0">
                <a:solidFill>
                  <a:srgbClr val="33415C"/>
                </a:solidFill>
              </a:rPr>
              <a:t>Quản lý tài khoản &amp; dịch vụ</a:t>
            </a:r>
          </a:p>
        </p:txBody>
      </p:sp>
      <p:sp>
        <p:nvSpPr>
          <p:cNvPr id="54" name="s"/>
          <p:cNvSpPr/>
          <p:nvPr/>
        </p:nvSpPr>
        <p:spPr>
          <a:xfrm>
            <a:off x="4495800" y="1905000"/>
            <a:ext cx="3429000" cy="31750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s"/>
          <p:cNvSpPr/>
          <p:nvPr/>
        </p:nvSpPr>
        <p:spPr>
          <a:xfrm>
            <a:off x="5867400" y="2159000"/>
            <a:ext cx="685800" cy="6858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t"/>
          <p:cNvSpPr/>
          <p:nvPr/>
        </p:nvSpPr>
        <p:spPr>
          <a:xfrm>
            <a:off x="4622800" y="29464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vi-VN" sz="1700" b="1" dirty="0">
                <a:solidFill>
                  <a:srgbClr val="0EA5E9"/>
                </a:solidFill>
              </a:rPr>
              <a:t>Khách hàng (Customer)</a:t>
            </a:r>
          </a:p>
        </p:txBody>
      </p:sp>
      <p:sp>
        <p:nvSpPr>
          <p:cNvPr id="57" name="t"/>
          <p:cNvSpPr/>
          <p:nvPr/>
        </p:nvSpPr>
        <p:spPr>
          <a:xfrm>
            <a:off x="4775200" y="3429000"/>
            <a:ext cx="2921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vi-VN" sz="1350" dirty="0">
                <a:solidFill>
                  <a:srgbClr val="33415C"/>
                </a:solidFill>
              </a:rPr>
              <a:t>Đăng ký, quản lý xe cá nhân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vi-VN" sz="1350" dirty="0">
                <a:solidFill>
                  <a:srgbClr val="33415C"/>
                </a:solidFill>
              </a:rPr>
              <a:t>Tạo &amp; theo dõi đặt lịch (Mobile Web)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vi-VN" sz="1350" dirty="0">
                <a:solidFill>
                  <a:srgbClr val="33415C"/>
                </a:solidFill>
              </a:rPr>
              <a:t>Nhận email thông báo</a:t>
            </a:r>
          </a:p>
        </p:txBody>
      </p:sp>
      <p:sp>
        <p:nvSpPr>
          <p:cNvPr id="58" name="s"/>
          <p:cNvSpPr/>
          <p:nvPr/>
        </p:nvSpPr>
        <p:spPr>
          <a:xfrm>
            <a:off x="8153400" y="1905000"/>
            <a:ext cx="3429000" cy="31750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s"/>
          <p:cNvSpPr/>
          <p:nvPr/>
        </p:nvSpPr>
        <p:spPr>
          <a:xfrm>
            <a:off x="9525000" y="2159000"/>
            <a:ext cx="685800" cy="685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t"/>
          <p:cNvSpPr/>
          <p:nvPr/>
        </p:nvSpPr>
        <p:spPr>
          <a:xfrm>
            <a:off x="8280400" y="29464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vi-VN" sz="1700" b="1" dirty="0">
                <a:solidFill>
                  <a:srgbClr val="6366F1"/>
                </a:solidFill>
              </a:rPr>
              <a:t>Hệ thống (System)</a:t>
            </a:r>
          </a:p>
        </p:txBody>
      </p:sp>
      <p:sp>
        <p:nvSpPr>
          <p:cNvPr id="61" name="t"/>
          <p:cNvSpPr/>
          <p:nvPr/>
        </p:nvSpPr>
        <p:spPr>
          <a:xfrm>
            <a:off x="8432800" y="3429000"/>
            <a:ext cx="2921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vi-VN" sz="1350" dirty="0">
                <a:solidFill>
                  <a:srgbClr val="33415C"/>
                </a:solidFill>
              </a:rPr>
              <a:t>Tự động gửi email OTP / xác nhận / hoàn tất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vi-VN" sz="1350" dirty="0">
                <a:solidFill>
                  <a:srgbClr val="33415C"/>
                </a:solidFill>
              </a:rPr>
              <a:t>Tiếp nhận kết quả nhận diện biển số (LPR)</a:t>
            </a:r>
          </a:p>
        </p:txBody>
      </p:sp>
      <p:sp>
        <p:nvSpPr>
          <p:cNvPr id="62" name="s"/>
          <p:cNvSpPr/>
          <p:nvPr/>
        </p:nvSpPr>
        <p:spPr>
          <a:xfrm>
            <a:off x="838200" y="5384800"/>
            <a:ext cx="10744200" cy="863600"/>
          </a:xfrm>
          <a:prstGeom prst="roundRect">
            <a:avLst>
              <a:gd name="adj" fmla="val 7000"/>
            </a:avLst>
          </a:prstGeom>
          <a:solidFill>
            <a:srgbClr val="1A243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t"/>
          <p:cNvSpPr/>
          <p:nvPr/>
        </p:nvSpPr>
        <p:spPr>
          <a:xfrm>
            <a:off x="1168400" y="5384800"/>
            <a:ext cx="2413000" cy="863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vi-VN" sz="1550" b="1" dirty="0">
                <a:solidFill>
                  <a:srgbClr val="0EA5E9"/>
                </a:solidFill>
              </a:rPr>
              <a:t>Hệ thống ngoài</a:t>
            </a:r>
          </a:p>
        </p:txBody>
      </p:sp>
      <p:sp>
        <p:nvSpPr>
          <p:cNvPr id="64" name="t"/>
          <p:cNvSpPr/>
          <p:nvPr/>
        </p:nvSpPr>
        <p:spPr>
          <a:xfrm>
            <a:off x="3759200" y="5384800"/>
            <a:ext cx="7493000" cy="863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400" dirty="0">
                <a:solidFill>
                  <a:srgbClr val="FFFFFF"/>
                </a:solidFill>
              </a:rPr>
              <a:t>Email SMTP (Gmail / MailKit)  ·  Camera LPR  ·  3rd-party LPR API</a:t>
            </a:r>
          </a:p>
        </p:txBody>
      </p:sp>
      <p:pic>
        <p:nvPicPr>
          <p:cNvPr id="65" name="Graphic 65" descr="Staff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2200" y="2311400"/>
            <a:ext cx="381000" cy="381000"/>
          </a:xfrm>
          <a:prstGeom prst="rect">
            <a:avLst/>
          </a:prstGeom>
        </p:spPr>
      </p:pic>
      <p:pic>
        <p:nvPicPr>
          <p:cNvPr id="66" name="Graphic 66" descr="Customer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9800" y="2311400"/>
            <a:ext cx="381000" cy="381000"/>
          </a:xfrm>
          <a:prstGeom prst="rect">
            <a:avLst/>
          </a:prstGeom>
        </p:spPr>
      </p:pic>
      <p:pic>
        <p:nvPicPr>
          <p:cNvPr id="67" name="Graphic 67" descr="System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7400" y="23114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9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0B04-8B1F-B7DA-6029-B433565D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Mô hình dữ liệu — 9 thực thể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063163-106E-4943-A938-2269CD3E6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424059"/>
              </p:ext>
            </p:extLst>
          </p:nvPr>
        </p:nvGraphicFramePr>
        <p:xfrm>
          <a:off x="838200" y="1905000"/>
          <a:ext cx="10744200" cy="408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77448395"/>
                    </a:ext>
                  </a:extLst>
                </a:gridCol>
                <a:gridCol w="8204200">
                  <a:extLst>
                    <a:ext uri="{9D8B030D-6E8A-4147-A177-3AD203B41FA5}">
                      <a16:colId xmlns:a16="http://schemas.microsoft.com/office/drawing/2014/main" val="425151252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Thực thể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Vai trò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58085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Account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Định danh, email/phone, PasswordHash, Role (1=Staff, 2=Customer)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77315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Customer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Hồ sơ khách + thống kê (TotalVisits, TotalSpend)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46183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Vehicle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Xe của khách — LicensePlate đã chuẩn hóa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45993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Booking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Đặt lịch (ScheduledAt, Status 1–5, giá)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06245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BookingService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Bảng trung gian Booking ↔ Service (PriceSnapshot)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4871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Service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Danh mục dịch vụ (Category 1–4, giá, thời lượng)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9429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Queue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Hàng chờ tại xưởng (Position, các mốc thời gian)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10762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Notification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Thông báo trong ứng dụng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9740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OtpVerification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Mã OTP tạm thời (không có khóa ngoại)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612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787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591-32B3-8165-4A50-CA87BB75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5 phân hệ chức năng — 24 Use Case</a:t>
            </a:r>
            <a:endParaRPr lang="vi-VN" b="1">
              <a:latin typeface="Segoe UI"/>
              <a:cs typeface="Segoe U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B36CE5-18F9-45CA-8F5C-46765F44D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002530"/>
              </p:ext>
            </p:extLst>
          </p:nvPr>
        </p:nvGraphicFramePr>
        <p:xfrm>
          <a:off x="838200" y="1905000"/>
          <a:ext cx="10744200" cy="348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3812575738"/>
                    </a:ext>
                  </a:extLst>
                </a:gridCol>
                <a:gridCol w="8026400">
                  <a:extLst>
                    <a:ext uri="{9D8B030D-6E8A-4147-A177-3AD203B41FA5}">
                      <a16:colId xmlns:a16="http://schemas.microsoft.com/office/drawing/2014/main" val="350085642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Phân hệ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Use Case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50246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Chung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UC1 Đăng nhập · UC2 Đăng xuất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0912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Quản lý tài khoản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UC3 Đăng ký · UC4 Cập nhật hồ sơ · UC5 Đổi mật khẩu · UC6 Quản lý tài khoản người dùng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0933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Quản lý phương tiện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UC7 Xem xe · UC8 Đăng ký xe · UC9 Xóa xe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972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Dịch vụ &amp; đặt lịch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UC10 Xem DV · UC11 Quản lý DV · UC12 Tạo đặt lịch · UC13 Xem đặt lịch · UC14 Xác nhận · UC15 Hủy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1052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Hàng chờ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UC16–UC22 · Check-in, LPR, chuyển trạng thái, cập nhật, check-out, hủy lượt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13186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Thông báo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UC23 Xem · UC24 Đánh dấu đã đọc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122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71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EDA4-E630-1400-4981-48C6BD797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Luồng 1 — Đăng ký &amp; Đặt lịch (Khách hàng)</a:t>
            </a:r>
          </a:p>
        </p:txBody>
      </p:sp>
      <p:sp>
        <p:nvSpPr>
          <p:cNvPr id="50" name="s"/>
          <p:cNvSpPr/>
          <p:nvPr/>
        </p:nvSpPr>
        <p:spPr>
          <a:xfrm>
            <a:off x="1473200" y="2260600"/>
            <a:ext cx="50800" cy="3505200"/>
          </a:xfrm>
          <a:prstGeom prst="rect">
            <a:avLst/>
          </a:prstGeom>
          <a:solidFill>
            <a:srgbClr val="BBD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s"/>
          <p:cNvSpPr/>
          <p:nvPr/>
        </p:nvSpPr>
        <p:spPr>
          <a:xfrm>
            <a:off x="1524000" y="1905000"/>
            <a:ext cx="10058400" cy="711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 wrap="square" lIns="520000" tIns="0" rIns="45720" bIns="0" anchor="ctr"/>
          <a:lstStyle/>
          <a:p>
            <a:pPr algn="l">
              <a:lnSpc>
                <a:spcPts val="1850"/>
              </a:lnSpc>
            </a:pPr>
            <a:r>
              <a:rPr lang="vi-VN" sz="1550" b="1" dirty="0">
                <a:solidFill>
                  <a:srgbClr val="1A2438"/>
                </a:solidFill>
              </a:rPr>
              <a:t>Đăng ký tài khoản  </a:t>
            </a:r>
            <a:r>
              <a:rPr lang="vi-VN" sz="1450" dirty="0">
                <a:solidFill>
                  <a:srgbClr val="33415C"/>
                </a:solidFill>
              </a:rPr>
              <a:t>— Nhận OTP qua email → hoàn tất hồ sơ.</a:t>
            </a:r>
          </a:p>
        </p:txBody>
      </p:sp>
      <p:sp>
        <p:nvSpPr>
          <p:cNvPr id="52" name="s"/>
          <p:cNvSpPr/>
          <p:nvPr/>
        </p:nvSpPr>
        <p:spPr>
          <a:xfrm>
            <a:off x="1193800" y="1955800"/>
            <a:ext cx="609600" cy="609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3" name="s"/>
          <p:cNvSpPr/>
          <p:nvPr/>
        </p:nvSpPr>
        <p:spPr>
          <a:xfrm>
            <a:off x="1524000" y="2781300"/>
            <a:ext cx="10058400" cy="711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 wrap="square" lIns="520000" tIns="0" rIns="45720" bIns="0" anchor="ctr"/>
          <a:lstStyle/>
          <a:p>
            <a:pPr algn="l">
              <a:lnSpc>
                <a:spcPts val="1850"/>
              </a:lnSpc>
            </a:pPr>
            <a:r>
              <a:rPr lang="vi-VN" sz="1550" b="1" dirty="0">
                <a:solidFill>
                  <a:srgbClr val="1A2438"/>
                </a:solidFill>
              </a:rPr>
              <a:t>Đăng nhập  </a:t>
            </a:r>
            <a:r>
              <a:rPr lang="vi-VN" sz="1450" dirty="0">
                <a:solidFill>
                  <a:srgbClr val="33415C"/>
                </a:solidFill>
              </a:rPr>
              <a:t>— Email/SĐT + mật khẩu (không dùng OTP khi đăng nhập).</a:t>
            </a:r>
          </a:p>
        </p:txBody>
      </p:sp>
      <p:sp>
        <p:nvSpPr>
          <p:cNvPr id="54" name="s"/>
          <p:cNvSpPr/>
          <p:nvPr/>
        </p:nvSpPr>
        <p:spPr>
          <a:xfrm>
            <a:off x="1193800" y="2832100"/>
            <a:ext cx="609600" cy="609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5" name="s"/>
          <p:cNvSpPr/>
          <p:nvPr/>
        </p:nvSpPr>
        <p:spPr>
          <a:xfrm>
            <a:off x="1524000" y="3657600"/>
            <a:ext cx="10058400" cy="711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 wrap="square" lIns="520000" tIns="0" rIns="45720" bIns="0" anchor="ctr"/>
          <a:lstStyle/>
          <a:p>
            <a:pPr algn="l">
              <a:lnSpc>
                <a:spcPts val="1850"/>
              </a:lnSpc>
            </a:pPr>
            <a:r>
              <a:rPr lang="vi-VN" sz="1550" b="1" dirty="0">
                <a:solidFill>
                  <a:srgbClr val="1A2438"/>
                </a:solidFill>
              </a:rPr>
              <a:t>Đăng ký xe &amp; chọn dịch vụ  </a:t>
            </a:r>
            <a:r>
              <a:rPr lang="vi-VN" sz="1450" dirty="0">
                <a:solidFill>
                  <a:srgbClr val="33415C"/>
                </a:solidFill>
              </a:rPr>
              <a:t>— Xác thực OTP → chọn dịch vụ chính + add-on → chọn ngày giờ.</a:t>
            </a:r>
          </a:p>
        </p:txBody>
      </p:sp>
      <p:sp>
        <p:nvSpPr>
          <p:cNvPr id="56" name="s"/>
          <p:cNvSpPr/>
          <p:nvPr/>
        </p:nvSpPr>
        <p:spPr>
          <a:xfrm>
            <a:off x="1193800" y="3708400"/>
            <a:ext cx="609600" cy="609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7" name="s"/>
          <p:cNvSpPr/>
          <p:nvPr/>
        </p:nvSpPr>
        <p:spPr>
          <a:xfrm>
            <a:off x="1524000" y="4533900"/>
            <a:ext cx="10058400" cy="711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 wrap="square" lIns="520000" tIns="0" rIns="45720" bIns="0" anchor="ctr"/>
          <a:lstStyle/>
          <a:p>
            <a:pPr algn="l">
              <a:lnSpc>
                <a:spcPts val="1850"/>
              </a:lnSpc>
            </a:pPr>
            <a:r>
              <a:rPr lang="vi-VN" sz="1550" b="1" dirty="0">
                <a:solidFill>
                  <a:srgbClr val="1A2438"/>
                </a:solidFill>
              </a:rPr>
              <a:t>Xác nhận đặt lịch  </a:t>
            </a:r>
            <a:r>
              <a:rPr lang="vi-VN" sz="1450" dirty="0">
                <a:solidFill>
                  <a:srgbClr val="33415C"/>
                </a:solidFill>
              </a:rPr>
              <a:t>— Xem bản tóm tắt → xác nhận → hệ thống gửi email xác nhận.</a:t>
            </a:r>
          </a:p>
        </p:txBody>
      </p:sp>
      <p:sp>
        <p:nvSpPr>
          <p:cNvPr id="58" name="s"/>
          <p:cNvSpPr/>
          <p:nvPr/>
        </p:nvSpPr>
        <p:spPr>
          <a:xfrm>
            <a:off x="1193800" y="4584700"/>
            <a:ext cx="609600" cy="609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9" name="s"/>
          <p:cNvSpPr/>
          <p:nvPr/>
        </p:nvSpPr>
        <p:spPr>
          <a:xfrm>
            <a:off x="1524000" y="5410200"/>
            <a:ext cx="10058400" cy="711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 wrap="square" lIns="520000" tIns="0" rIns="45720" bIns="0" anchor="ctr"/>
          <a:lstStyle/>
          <a:p>
            <a:pPr algn="l">
              <a:lnSpc>
                <a:spcPts val="1850"/>
              </a:lnSpc>
            </a:pPr>
            <a:r>
              <a:rPr lang="vi-VN" sz="1550" b="1" dirty="0">
                <a:solidFill>
                  <a:srgbClr val="1A2438"/>
                </a:solidFill>
              </a:rPr>
              <a:t>Theo dõi hàng chờ  </a:t>
            </a:r>
            <a:r>
              <a:rPr lang="vi-VN" sz="1450" dirty="0">
                <a:solidFill>
                  <a:srgbClr val="33415C"/>
                </a:solidFill>
              </a:rPr>
              <a:t>— Cập nhật tiến độ theo thời gian thực.</a:t>
            </a:r>
          </a:p>
        </p:txBody>
      </p:sp>
      <p:sp>
        <p:nvSpPr>
          <p:cNvPr id="60" name="s"/>
          <p:cNvSpPr/>
          <p:nvPr/>
        </p:nvSpPr>
        <p:spPr>
          <a:xfrm>
            <a:off x="1193800" y="5461000"/>
            <a:ext cx="609600" cy="609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46919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2931-2C31-E7F8-1A25-8B4B9C66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Luồng 2 — Hàng chờ tại xưởng (Nhân viên)</a:t>
            </a:r>
          </a:p>
        </p:txBody>
      </p:sp>
      <p:sp>
        <p:nvSpPr>
          <p:cNvPr id="50" name="s"/>
          <p:cNvSpPr/>
          <p:nvPr/>
        </p:nvSpPr>
        <p:spPr>
          <a:xfrm>
            <a:off x="838200" y="2159000"/>
            <a:ext cx="2362200" cy="26035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 wrap="square" lIns="72000" tIns="1050000" rIns="72000" bIns="0" anchor="t"/>
          <a:lstStyle/>
          <a:p>
            <a:pPr algn="ctr">
              <a:spcAft>
                <a:spcPts val="400"/>
              </a:spcAft>
            </a:pPr>
            <a:r>
              <a:rPr lang="vi-VN" sz="1600" b="1" dirty="0">
                <a:solidFill>
                  <a:srgbClr val="1A2438"/>
                </a:solidFill>
              </a:rPr>
              <a:t>Check-in</a:t>
            </a:r>
          </a:p>
          <a:p>
            <a:pPr algn="ctr">
              <a:lnSpc>
                <a:spcPts val="1750"/>
              </a:lnSpc>
            </a:pPr>
            <a:r>
              <a:rPr lang="vi-VN" sz="1400" dirty="0">
                <a:solidFill>
                  <a:srgbClr val="33415C"/>
                </a:solidFill>
              </a:rPr>
              <a:t>Xe đến — nhân viên check-in, tự động phát hiện booking.</a:t>
            </a:r>
          </a:p>
        </p:txBody>
      </p:sp>
      <p:sp>
        <p:nvSpPr>
          <p:cNvPr id="51" name="s"/>
          <p:cNvSpPr/>
          <p:nvPr/>
        </p:nvSpPr>
        <p:spPr>
          <a:xfrm>
            <a:off x="1689100" y="2413000"/>
            <a:ext cx="660400" cy="660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s"/>
          <p:cNvSpPr/>
          <p:nvPr/>
        </p:nvSpPr>
        <p:spPr>
          <a:xfrm>
            <a:off x="3225800" y="3257550"/>
            <a:ext cx="381000" cy="4064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BD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s"/>
          <p:cNvSpPr/>
          <p:nvPr/>
        </p:nvSpPr>
        <p:spPr>
          <a:xfrm>
            <a:off x="3632200" y="2159000"/>
            <a:ext cx="2362200" cy="26035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 wrap="square" lIns="72000" tIns="1050000" rIns="72000" bIns="0" anchor="t"/>
          <a:lstStyle/>
          <a:p>
            <a:pPr algn="ctr">
              <a:spcAft>
                <a:spcPts val="400"/>
              </a:spcAft>
            </a:pPr>
            <a:r>
              <a:rPr lang="vi-VN" sz="1600" b="1" dirty="0">
                <a:solidFill>
                  <a:srgbClr val="1A2438"/>
                </a:solidFill>
              </a:rPr>
              <a:t>Quét biển số (LPR)</a:t>
            </a:r>
          </a:p>
          <a:p>
            <a:pPr algn="ctr">
              <a:lnSpc>
                <a:spcPts val="1750"/>
              </a:lnSpc>
            </a:pPr>
            <a:r>
              <a:rPr lang="vi-VN" sz="1400" dirty="0">
                <a:solidFill>
                  <a:srgbClr val="33415C"/>
                </a:solidFill>
              </a:rPr>
              <a:t>Camera chụp ảnh → LPR API trả biển số (&lt; 5 giây).</a:t>
            </a:r>
          </a:p>
        </p:txBody>
      </p:sp>
      <p:sp>
        <p:nvSpPr>
          <p:cNvPr id="54" name="s"/>
          <p:cNvSpPr/>
          <p:nvPr/>
        </p:nvSpPr>
        <p:spPr>
          <a:xfrm>
            <a:off x="4483100" y="2413000"/>
            <a:ext cx="660400" cy="660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s"/>
          <p:cNvSpPr/>
          <p:nvPr/>
        </p:nvSpPr>
        <p:spPr>
          <a:xfrm>
            <a:off x="6019800" y="3257550"/>
            <a:ext cx="381000" cy="4064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BD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s"/>
          <p:cNvSpPr/>
          <p:nvPr/>
        </p:nvSpPr>
        <p:spPr>
          <a:xfrm>
            <a:off x="6426200" y="2159000"/>
            <a:ext cx="2362200" cy="26035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 wrap="square" lIns="72000" tIns="1050000" rIns="72000" bIns="0" anchor="t"/>
          <a:lstStyle/>
          <a:p>
            <a:pPr algn="ctr">
              <a:spcAft>
                <a:spcPts val="400"/>
              </a:spcAft>
            </a:pPr>
            <a:r>
              <a:rPr lang="vi-VN" sz="1600" b="1" dirty="0">
                <a:solidFill>
                  <a:srgbClr val="1A2438"/>
                </a:solidFill>
              </a:rPr>
              <a:t>Hàng chờ FIFO</a:t>
            </a:r>
          </a:p>
          <a:p>
            <a:pPr algn="ctr">
              <a:lnSpc>
                <a:spcPts val="1750"/>
              </a:lnSpc>
            </a:pPr>
            <a:r>
              <a:rPr lang="vi-VN" sz="1400" dirty="0">
                <a:solidFill>
                  <a:srgbClr val="33415C"/>
                </a:solidFill>
              </a:rPr>
              <a:t>Xe vào hàng chờ, chuyển trạng thái qua các công đoạn rửa.</a:t>
            </a:r>
          </a:p>
        </p:txBody>
      </p:sp>
      <p:sp>
        <p:nvSpPr>
          <p:cNvPr id="57" name="s"/>
          <p:cNvSpPr/>
          <p:nvPr/>
        </p:nvSpPr>
        <p:spPr>
          <a:xfrm>
            <a:off x="7277100" y="2413000"/>
            <a:ext cx="660400" cy="660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s"/>
          <p:cNvSpPr/>
          <p:nvPr/>
        </p:nvSpPr>
        <p:spPr>
          <a:xfrm>
            <a:off x="8813800" y="3257550"/>
            <a:ext cx="381000" cy="4064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BD3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s"/>
          <p:cNvSpPr/>
          <p:nvPr/>
        </p:nvSpPr>
        <p:spPr>
          <a:xfrm>
            <a:off x="9220200" y="2159000"/>
            <a:ext cx="2362200" cy="26035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 wrap="square" lIns="72000" tIns="1050000" rIns="72000" bIns="0" anchor="t"/>
          <a:lstStyle/>
          <a:p>
            <a:pPr algn="ctr">
              <a:spcAft>
                <a:spcPts val="400"/>
              </a:spcAft>
            </a:pPr>
            <a:r>
              <a:rPr lang="vi-VN" sz="1600" b="1" dirty="0">
                <a:solidFill>
                  <a:srgbClr val="1A2438"/>
                </a:solidFill>
              </a:rPr>
              <a:t>Check-out</a:t>
            </a:r>
          </a:p>
          <a:p>
            <a:pPr algn="ctr">
              <a:lnSpc>
                <a:spcPts val="1750"/>
              </a:lnSpc>
            </a:pPr>
            <a:r>
              <a:rPr lang="vi-VN" sz="1400" dirty="0">
                <a:solidFill>
                  <a:srgbClr val="33415C"/>
                </a:solidFill>
              </a:rPr>
              <a:t>Cập nhật thống kê khách → gửi email hoàn tất.</a:t>
            </a:r>
          </a:p>
        </p:txBody>
      </p:sp>
      <p:sp>
        <p:nvSpPr>
          <p:cNvPr id="60" name="s"/>
          <p:cNvSpPr/>
          <p:nvPr/>
        </p:nvSpPr>
        <p:spPr>
          <a:xfrm>
            <a:off x="10071100" y="2413000"/>
            <a:ext cx="660400" cy="660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"/>
          <p:cNvSpPr/>
          <p:nvPr/>
        </p:nvSpPr>
        <p:spPr>
          <a:xfrm>
            <a:off x="3632200" y="5016500"/>
            <a:ext cx="5156200" cy="76200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 w="12700">
            <a:solidFill>
              <a:srgbClr val="F59E0B"/>
            </a:solidFill>
          </a:ln>
        </p:spPr>
        <p:txBody>
          <a:bodyPr wrap="square" lIns="180000" tIns="45720" rIns="90000" bIns="45720" anchor="ctr"/>
          <a:lstStyle/>
          <a:p>
            <a:pPr algn="l">
              <a:lnSpc>
                <a:spcPts val="1700"/>
              </a:lnSpc>
            </a:pPr>
            <a:r>
              <a:rPr lang="vi-VN" sz="1400" b="1" dirty="0">
                <a:solidFill>
                  <a:srgbClr val="B45309"/>
                </a:solidFill>
              </a:rPr>
              <a:t>Dự phòng: </a:t>
            </a:r>
            <a:r>
              <a:rPr lang="vi-VN" sz="1400" dirty="0">
                <a:solidFill>
                  <a:srgbClr val="7C4A03"/>
                </a:solidFill>
              </a:rPr>
              <a:t>nếu LPR lỗi → nhập biển số thủ công.</a:t>
            </a:r>
          </a:p>
        </p:txBody>
      </p:sp>
      <p:pic>
        <p:nvPicPr>
          <p:cNvPr id="62" name="Graphic 62" descr="Check-i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1500" y="2565400"/>
            <a:ext cx="355600" cy="355600"/>
          </a:xfrm>
          <a:prstGeom prst="rect">
            <a:avLst/>
          </a:prstGeom>
        </p:spPr>
      </p:pic>
      <p:pic>
        <p:nvPicPr>
          <p:cNvPr id="63" name="Graphic 63" descr="LPR camera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565400"/>
            <a:ext cx="355600" cy="355600"/>
          </a:xfrm>
          <a:prstGeom prst="rect">
            <a:avLst/>
          </a:prstGeom>
        </p:spPr>
      </p:pic>
      <p:pic>
        <p:nvPicPr>
          <p:cNvPr id="64" name="Graphic 64" descr="Queue list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9500" y="2565400"/>
            <a:ext cx="355600" cy="355600"/>
          </a:xfrm>
          <a:prstGeom prst="rect">
            <a:avLst/>
          </a:prstGeom>
        </p:spPr>
      </p:pic>
      <p:pic>
        <p:nvPicPr>
          <p:cNvPr id="65" name="Graphic 65" descr="Check-out complete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23500" y="25654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17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FEFB-680C-493D-0948-33535A13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Vòng đời trạng thái</a:t>
            </a:r>
          </a:p>
        </p:txBody>
      </p:sp>
      <p:sp>
        <p:nvSpPr>
          <p:cNvPr id="50" name="s"/>
          <p:cNvSpPr/>
          <p:nvPr/>
        </p:nvSpPr>
        <p:spPr>
          <a:xfrm>
            <a:off x="838200" y="2260600"/>
            <a:ext cx="1574800" cy="863600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</a:rPr>
              <a:t>Booking</a:t>
            </a:r>
          </a:p>
        </p:txBody>
      </p:sp>
      <p:sp>
        <p:nvSpPr>
          <p:cNvPr id="51" name="s"/>
          <p:cNvSpPr/>
          <p:nvPr/>
        </p:nvSpPr>
        <p:spPr>
          <a:xfrm>
            <a:off x="2667000" y="2413000"/>
            <a:ext cx="1600200" cy="55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1A2438"/>
                </a:solidFill>
              </a:rPr>
              <a:t>Pending</a:t>
            </a:r>
          </a:p>
        </p:txBody>
      </p:sp>
      <p:sp>
        <p:nvSpPr>
          <p:cNvPr id="52" name="s"/>
          <p:cNvSpPr/>
          <p:nvPr/>
        </p:nvSpPr>
        <p:spPr>
          <a:xfrm>
            <a:off x="4292600" y="2552700"/>
            <a:ext cx="355600" cy="2794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DBB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s"/>
          <p:cNvSpPr/>
          <p:nvPr/>
        </p:nvSpPr>
        <p:spPr>
          <a:xfrm>
            <a:off x="4673600" y="2413000"/>
            <a:ext cx="1600200" cy="55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1A2438"/>
                </a:solidFill>
              </a:rPr>
              <a:t>Confirmed</a:t>
            </a:r>
          </a:p>
        </p:txBody>
      </p:sp>
      <p:sp>
        <p:nvSpPr>
          <p:cNvPr id="54" name="s"/>
          <p:cNvSpPr/>
          <p:nvPr/>
        </p:nvSpPr>
        <p:spPr>
          <a:xfrm>
            <a:off x="6299200" y="2552700"/>
            <a:ext cx="355600" cy="2794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DBB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s"/>
          <p:cNvSpPr/>
          <p:nvPr/>
        </p:nvSpPr>
        <p:spPr>
          <a:xfrm>
            <a:off x="6680200" y="2413000"/>
            <a:ext cx="1600200" cy="55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1A2438"/>
                </a:solidFill>
              </a:rPr>
              <a:t>In progress</a:t>
            </a:r>
          </a:p>
        </p:txBody>
      </p:sp>
      <p:sp>
        <p:nvSpPr>
          <p:cNvPr id="56" name="s"/>
          <p:cNvSpPr/>
          <p:nvPr/>
        </p:nvSpPr>
        <p:spPr>
          <a:xfrm>
            <a:off x="8305800" y="2552700"/>
            <a:ext cx="355600" cy="2794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DBB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s"/>
          <p:cNvSpPr/>
          <p:nvPr/>
        </p:nvSpPr>
        <p:spPr>
          <a:xfrm>
            <a:off x="8686800" y="2108200"/>
            <a:ext cx="1600200" cy="508000"/>
          </a:xfrm>
          <a:prstGeom prst="roundRect">
            <a:avLst>
              <a:gd name="adj" fmla="val 50000"/>
            </a:avLst>
          </a:prstGeom>
          <a:solidFill>
            <a:srgbClr val="DFF5EA"/>
          </a:solidFill>
          <a:ln w="19050">
            <a:solidFill>
              <a:srgbClr val="10B981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0B6B45"/>
                </a:solidFill>
              </a:rPr>
              <a:t>Completed</a:t>
            </a:r>
          </a:p>
        </p:txBody>
      </p:sp>
      <p:sp>
        <p:nvSpPr>
          <p:cNvPr id="58" name="s"/>
          <p:cNvSpPr/>
          <p:nvPr/>
        </p:nvSpPr>
        <p:spPr>
          <a:xfrm>
            <a:off x="8686800" y="2768600"/>
            <a:ext cx="1600200" cy="508000"/>
          </a:xfrm>
          <a:prstGeom prst="roundRect">
            <a:avLst>
              <a:gd name="adj" fmla="val 50000"/>
            </a:avLst>
          </a:prstGeom>
          <a:solidFill>
            <a:srgbClr val="FBE3E3"/>
          </a:solidFill>
          <a:ln w="19050">
            <a:solidFill>
              <a:srgbClr val="EF4444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B42318"/>
                </a:solidFill>
              </a:rPr>
              <a:t>Cancelled</a:t>
            </a:r>
          </a:p>
        </p:txBody>
      </p:sp>
      <p:sp>
        <p:nvSpPr>
          <p:cNvPr id="59" name="s"/>
          <p:cNvSpPr/>
          <p:nvPr/>
        </p:nvSpPr>
        <p:spPr>
          <a:xfrm>
            <a:off x="838200" y="3657600"/>
            <a:ext cx="1574800" cy="863600"/>
          </a:xfrm>
          <a:prstGeom prst="roundRect">
            <a:avLst>
              <a:gd name="adj" fmla="val 14000"/>
            </a:avLst>
          </a:prstGeom>
          <a:solidFill>
            <a:srgbClr val="6366F1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</a:rPr>
              <a:t>Queue</a:t>
            </a:r>
          </a:p>
          <a:p>
            <a:pPr algn="ctr">
              <a:spcBef>
                <a:spcPts val="300"/>
              </a:spcBef>
            </a:pPr>
            <a:r>
              <a:rPr lang="vi-VN" sz="1050" dirty="0">
                <a:solidFill>
                  <a:srgbClr val="E6EEFB"/>
                </a:solidFill>
              </a:rPr>
              <a:t>Sắp xếp theo CheckInAt</a:t>
            </a:r>
          </a:p>
        </p:txBody>
      </p:sp>
      <p:sp>
        <p:nvSpPr>
          <p:cNvPr id="60" name="s"/>
          <p:cNvSpPr/>
          <p:nvPr/>
        </p:nvSpPr>
        <p:spPr>
          <a:xfrm>
            <a:off x="2667000" y="3810000"/>
            <a:ext cx="1600200" cy="55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1A2438"/>
                </a:solidFill>
              </a:rPr>
              <a:t>Waiting</a:t>
            </a:r>
          </a:p>
        </p:txBody>
      </p:sp>
      <p:sp>
        <p:nvSpPr>
          <p:cNvPr id="61" name="s"/>
          <p:cNvSpPr/>
          <p:nvPr/>
        </p:nvSpPr>
        <p:spPr>
          <a:xfrm>
            <a:off x="4292600" y="3949700"/>
            <a:ext cx="355600" cy="2794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DBB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"/>
          <p:cNvSpPr/>
          <p:nvPr/>
        </p:nvSpPr>
        <p:spPr>
          <a:xfrm>
            <a:off x="4673600" y="3810000"/>
            <a:ext cx="1600200" cy="55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1A2438"/>
                </a:solidFill>
              </a:rPr>
              <a:t>In progress</a:t>
            </a:r>
          </a:p>
        </p:txBody>
      </p:sp>
      <p:sp>
        <p:nvSpPr>
          <p:cNvPr id="63" name="s"/>
          <p:cNvSpPr/>
          <p:nvPr/>
        </p:nvSpPr>
        <p:spPr>
          <a:xfrm>
            <a:off x="6299200" y="3949700"/>
            <a:ext cx="355600" cy="2794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DBB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"/>
          <p:cNvSpPr/>
          <p:nvPr/>
        </p:nvSpPr>
        <p:spPr>
          <a:xfrm>
            <a:off x="6680200" y="3505200"/>
            <a:ext cx="1600200" cy="508000"/>
          </a:xfrm>
          <a:prstGeom prst="roundRect">
            <a:avLst>
              <a:gd name="adj" fmla="val 50000"/>
            </a:avLst>
          </a:prstGeom>
          <a:solidFill>
            <a:srgbClr val="DFF5EA"/>
          </a:solidFill>
          <a:ln w="19050">
            <a:solidFill>
              <a:srgbClr val="10B981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0B6B45"/>
                </a:solidFill>
              </a:rPr>
              <a:t>Completed</a:t>
            </a:r>
          </a:p>
        </p:txBody>
      </p:sp>
      <p:sp>
        <p:nvSpPr>
          <p:cNvPr id="65" name="s"/>
          <p:cNvSpPr/>
          <p:nvPr/>
        </p:nvSpPr>
        <p:spPr>
          <a:xfrm>
            <a:off x="6680200" y="4165600"/>
            <a:ext cx="1600200" cy="508000"/>
          </a:xfrm>
          <a:prstGeom prst="roundRect">
            <a:avLst>
              <a:gd name="adj" fmla="val 50000"/>
            </a:avLst>
          </a:prstGeom>
          <a:solidFill>
            <a:srgbClr val="FBE3E3"/>
          </a:solidFill>
          <a:ln w="19050">
            <a:solidFill>
              <a:srgbClr val="EF4444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B42318"/>
                </a:solidFill>
              </a:rPr>
              <a:t>Cancelled</a:t>
            </a:r>
          </a:p>
        </p:txBody>
      </p:sp>
      <p:sp>
        <p:nvSpPr>
          <p:cNvPr id="66" name="s"/>
          <p:cNvSpPr/>
          <p:nvPr/>
        </p:nvSpPr>
        <p:spPr>
          <a:xfrm>
            <a:off x="838200" y="5054600"/>
            <a:ext cx="1574800" cy="863600"/>
          </a:xfrm>
          <a:prstGeom prst="roundRect">
            <a:avLst>
              <a:gd name="adj" fmla="val 14000"/>
            </a:avLst>
          </a:prstGeom>
          <a:solidFill>
            <a:srgbClr val="0EA5E9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</a:rPr>
              <a:t>OTP</a:t>
            </a:r>
          </a:p>
          <a:p>
            <a:pPr algn="ctr">
              <a:spcBef>
                <a:spcPts val="300"/>
              </a:spcBef>
            </a:pPr>
            <a:r>
              <a:rPr lang="vi-VN" sz="1050" dirty="0">
                <a:solidFill>
                  <a:srgbClr val="E6EEFB"/>
                </a:solidFill>
              </a:rPr>
              <a:t>Dùng một lần · hết hạn 5 phút</a:t>
            </a:r>
          </a:p>
        </p:txBody>
      </p:sp>
      <p:sp>
        <p:nvSpPr>
          <p:cNvPr id="67" name="s"/>
          <p:cNvSpPr/>
          <p:nvPr/>
        </p:nvSpPr>
        <p:spPr>
          <a:xfrm>
            <a:off x="2667000" y="5207000"/>
            <a:ext cx="1600200" cy="55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1A2438"/>
                </a:solidFill>
              </a:rPr>
              <a:t>Created</a:t>
            </a:r>
          </a:p>
        </p:txBody>
      </p:sp>
      <p:sp>
        <p:nvSpPr>
          <p:cNvPr id="68" name="s"/>
          <p:cNvSpPr/>
          <p:nvPr/>
        </p:nvSpPr>
        <p:spPr>
          <a:xfrm>
            <a:off x="4292600" y="5346700"/>
            <a:ext cx="355600" cy="2794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DBB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s"/>
          <p:cNvSpPr/>
          <p:nvPr/>
        </p:nvSpPr>
        <p:spPr>
          <a:xfrm>
            <a:off x="4673600" y="4902200"/>
            <a:ext cx="1600200" cy="508000"/>
          </a:xfrm>
          <a:prstGeom prst="roundRect">
            <a:avLst>
              <a:gd name="adj" fmla="val 50000"/>
            </a:avLst>
          </a:prstGeom>
          <a:solidFill>
            <a:srgbClr val="DFF5EA"/>
          </a:solidFill>
          <a:ln w="19050">
            <a:solidFill>
              <a:srgbClr val="10B981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0B6B45"/>
                </a:solidFill>
              </a:rPr>
              <a:t>Verified</a:t>
            </a:r>
          </a:p>
        </p:txBody>
      </p:sp>
      <p:sp>
        <p:nvSpPr>
          <p:cNvPr id="70" name="s"/>
          <p:cNvSpPr/>
          <p:nvPr/>
        </p:nvSpPr>
        <p:spPr>
          <a:xfrm>
            <a:off x="4673600" y="5562600"/>
            <a:ext cx="1600200" cy="508000"/>
          </a:xfrm>
          <a:prstGeom prst="roundRect">
            <a:avLst>
              <a:gd name="adj" fmla="val 50000"/>
            </a:avLst>
          </a:prstGeom>
          <a:solidFill>
            <a:srgbClr val="FBE3E3"/>
          </a:solidFill>
          <a:ln w="19050">
            <a:solidFill>
              <a:srgbClr val="EF4444"/>
            </a:solidFill>
          </a:ln>
        </p:spPr>
        <p:txBody>
          <a:bodyPr wrap="square" lIns="18000" tIns="0" rIns="18000" bIns="0" anchor="ctr"/>
          <a:lstStyle/>
          <a:p>
            <a:pPr algn="ctr"/>
            <a:r>
              <a:rPr lang="en-US" sz="1400" b="1" dirty="0">
                <a:solidFill>
                  <a:srgbClr val="B42318"/>
                </a:solidFill>
              </a:rPr>
              <a:t>Expired</a:t>
            </a:r>
          </a:p>
        </p:txBody>
      </p:sp>
    </p:spTree>
    <p:extLst>
      <p:ext uri="{BB962C8B-B14F-4D97-AF65-F5344CB8AC3E}">
        <p14:creationId xmlns:p14="http://schemas.microsoft.com/office/powerpoint/2010/main" val="2129740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6050-6FCC-E363-EF20-831DCF3C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Ma trận phân quyền (RBAC)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6C57AF-7674-48B9-A97B-3E8D01487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394179"/>
              </p:ext>
            </p:extLst>
          </p:nvPr>
        </p:nvGraphicFramePr>
        <p:xfrm>
          <a:off x="838200" y="1905000"/>
          <a:ext cx="107442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3924128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9839478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82438679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5146174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Nhóm chức năng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Nhân viên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Khách hàng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Hệ thống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72781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Quản lý tài khoản người dùng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0B6B45"/>
                          </a:solidFill>
                          <a:latin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DFF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90064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Quản lý danh mục dịch vụ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0B6B45"/>
                          </a:solidFill>
                          <a:latin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DFF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6623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Quản lý hàng chờ / LPR / check-in-out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0B6B45"/>
                          </a:solidFill>
                          <a:latin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DFF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57444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Xác nhận / hủy đặt lịch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0B6B45"/>
                          </a:solidFill>
                          <a:latin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DFF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07624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Đăng ký &amp; quản lý xe của mình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4740B"/>
                          </a:solidFill>
                          <a:latin typeface="Segoe UI"/>
                          <a:cs typeface="Segoe UI"/>
                        </a:rPr>
                        <a:t>✓*</a:t>
                      </a:r>
                    </a:p>
                  </a:txBody>
                  <a:tcPr anchor="ctr">
                    <a:solidFill>
                      <a:srgbClr val="FDF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17264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Tạo &amp; xem đặt lịch của mình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4740B"/>
                          </a:solidFill>
                          <a:latin typeface="Segoe UI"/>
                          <a:cs typeface="Segoe UI"/>
                        </a:rPr>
                        <a:t>✓*</a:t>
                      </a:r>
                    </a:p>
                  </a:txBody>
                  <a:tcPr anchor="ctr">
                    <a:solidFill>
                      <a:srgbClr val="FDF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56737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Gửi email OTP / xác nhận / hoàn tất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B7C0CE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500" b="1">
                          <a:solidFill>
                            <a:srgbClr val="0B6B45"/>
                          </a:solidFill>
                          <a:latin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DFF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140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7099687-4BA0-4332-9C5D-63536643F39C}"/>
              </a:ext>
            </a:extLst>
          </p:cNvPr>
          <p:cNvSpPr txBox="1"/>
          <p:nvPr/>
        </p:nvSpPr>
        <p:spPr>
          <a:xfrm>
            <a:off x="838200" y="5969000"/>
            <a:ext cx="10744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vi-VN" sz="1300" i="1">
                <a:solidFill>
                  <a:srgbClr val="33415C"/>
                </a:solidFill>
                <a:latin typeface="Segoe UI"/>
                <a:cs typeface="Segoe UI"/>
              </a:rPr>
              <a:t>✓* = chỉ trên bản ghi thuộc về chính mình (kiểm tra quyền sở hữu — CBR5).</a:t>
            </a:r>
          </a:p>
        </p:txBody>
      </p:sp>
    </p:spTree>
    <p:extLst>
      <p:ext uri="{BB962C8B-B14F-4D97-AF65-F5344CB8AC3E}">
        <p14:creationId xmlns:p14="http://schemas.microsoft.com/office/powerpoint/2010/main" val="3198470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B2BC-A6F4-08B5-E169-3E5B3DF9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Quy tắc nghiệp vụ chung (CBR)</a:t>
            </a:r>
          </a:p>
        </p:txBody>
      </p:sp>
      <p:sp>
        <p:nvSpPr>
          <p:cNvPr id="50" name="s"/>
          <p:cNvSpPr/>
          <p:nvPr/>
        </p:nvSpPr>
        <p:spPr>
          <a:xfrm>
            <a:off x="838200" y="1905000"/>
            <a:ext cx="5219700" cy="939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"/>
          <p:cNvSpPr/>
          <p:nvPr/>
        </p:nvSpPr>
        <p:spPr>
          <a:xfrm>
            <a:off x="1016000" y="2120900"/>
            <a:ext cx="889000" cy="5080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>
            <a:noFill/>
          </a:ln>
        </p:spPr>
        <p:txBody>
          <a:bodyPr wrap="square" lIns="6000" tIns="0" rIns="6000" bIns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</a:rPr>
              <a:t>CBR1·2</a:t>
            </a:r>
          </a:p>
        </p:txBody>
      </p:sp>
      <p:sp>
        <p:nvSpPr>
          <p:cNvPr id="52" name="s"/>
          <p:cNvSpPr/>
          <p:nvPr/>
        </p:nvSpPr>
        <p:spPr>
          <a:xfrm>
            <a:off x="2082800" y="2006600"/>
            <a:ext cx="37719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vi-VN" sz="1500" b="1" dirty="0">
                <a:solidFill>
                  <a:srgbClr val="1A2438"/>
                </a:solidFill>
              </a:rPr>
              <a:t>Xác thực &amp; phân quyền</a:t>
            </a:r>
          </a:p>
          <a:p>
            <a:pPr algn="l">
              <a:spcBef>
                <a:spcPts val="300"/>
              </a:spcBef>
            </a:pPr>
            <a:r>
              <a:rPr lang="vi-VN" sz="1350" dirty="0">
                <a:solidFill>
                  <a:srgbClr val="33415C"/>
                </a:solidFill>
              </a:rPr>
              <a:t>Session bắt buộc (401) · phân quyền theo vai trò (403).</a:t>
            </a:r>
          </a:p>
        </p:txBody>
      </p:sp>
      <p:sp>
        <p:nvSpPr>
          <p:cNvPr id="53" name="s"/>
          <p:cNvSpPr/>
          <p:nvPr/>
        </p:nvSpPr>
        <p:spPr>
          <a:xfrm>
            <a:off x="6362700" y="1905000"/>
            <a:ext cx="5219700" cy="939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s"/>
          <p:cNvSpPr/>
          <p:nvPr/>
        </p:nvSpPr>
        <p:spPr>
          <a:xfrm>
            <a:off x="6540500" y="2120900"/>
            <a:ext cx="889000" cy="5080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>
            <a:noFill/>
          </a:ln>
        </p:spPr>
        <p:txBody>
          <a:bodyPr wrap="square" lIns="6000" tIns="0" rIns="6000" bIns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</a:rPr>
              <a:t>CBR3</a:t>
            </a:r>
          </a:p>
        </p:txBody>
      </p:sp>
      <p:sp>
        <p:nvSpPr>
          <p:cNvPr id="55" name="s"/>
          <p:cNvSpPr/>
          <p:nvPr/>
        </p:nvSpPr>
        <p:spPr>
          <a:xfrm>
            <a:off x="7607300" y="2006600"/>
            <a:ext cx="37719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vi-VN" sz="1500" b="1" dirty="0">
                <a:solidFill>
                  <a:srgbClr val="1A2438"/>
                </a:solidFill>
              </a:rPr>
              <a:t>OTP</a:t>
            </a:r>
          </a:p>
          <a:p>
            <a:pPr algn="l">
              <a:spcBef>
                <a:spcPts val="300"/>
              </a:spcBef>
            </a:pPr>
            <a:r>
              <a:rPr lang="vi-VN" sz="1350" dirty="0">
                <a:solidFill>
                  <a:srgbClr val="33415C"/>
                </a:solidFill>
              </a:rPr>
              <a:t>6 chữ số, băm, hết hạn 5 phút, dùng một lần.</a:t>
            </a:r>
          </a:p>
        </p:txBody>
      </p:sp>
      <p:sp>
        <p:nvSpPr>
          <p:cNvPr id="56" name="s"/>
          <p:cNvSpPr/>
          <p:nvPr/>
        </p:nvSpPr>
        <p:spPr>
          <a:xfrm>
            <a:off x="838200" y="3022600"/>
            <a:ext cx="5219700" cy="939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s"/>
          <p:cNvSpPr/>
          <p:nvPr/>
        </p:nvSpPr>
        <p:spPr>
          <a:xfrm>
            <a:off x="1016000" y="3238500"/>
            <a:ext cx="889000" cy="5080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>
            <a:noFill/>
          </a:ln>
        </p:spPr>
        <p:txBody>
          <a:bodyPr wrap="square" lIns="6000" tIns="0" rIns="6000" bIns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</a:rPr>
              <a:t>CBR4</a:t>
            </a:r>
          </a:p>
        </p:txBody>
      </p:sp>
      <p:sp>
        <p:nvSpPr>
          <p:cNvPr id="58" name="s"/>
          <p:cNvSpPr/>
          <p:nvPr/>
        </p:nvSpPr>
        <p:spPr>
          <a:xfrm>
            <a:off x="2082800" y="3124200"/>
            <a:ext cx="37719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vi-VN" sz="1500" b="1" dirty="0">
                <a:solidFill>
                  <a:srgbClr val="1A2438"/>
                </a:solidFill>
              </a:rPr>
              <a:t>Chuẩn hóa biển số</a:t>
            </a:r>
          </a:p>
          <a:p>
            <a:pPr algn="l">
              <a:spcBef>
                <a:spcPts val="300"/>
              </a:spcBef>
            </a:pPr>
            <a:r>
              <a:rPr lang="vi-VN" sz="1350" dirty="0">
                <a:solidFill>
                  <a:srgbClr val="33415C"/>
                </a:solidFill>
              </a:rPr>
              <a:t>Hoa hóa, bỏ khoảng trắng/gạch: 51a-123.45 → 51A12345.</a:t>
            </a:r>
          </a:p>
        </p:txBody>
      </p:sp>
      <p:sp>
        <p:nvSpPr>
          <p:cNvPr id="59" name="s"/>
          <p:cNvSpPr/>
          <p:nvPr/>
        </p:nvSpPr>
        <p:spPr>
          <a:xfrm>
            <a:off x="6362700" y="3022600"/>
            <a:ext cx="5219700" cy="939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s"/>
          <p:cNvSpPr/>
          <p:nvPr/>
        </p:nvSpPr>
        <p:spPr>
          <a:xfrm>
            <a:off x="6540500" y="3238500"/>
            <a:ext cx="889000" cy="5080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>
            <a:noFill/>
          </a:ln>
        </p:spPr>
        <p:txBody>
          <a:bodyPr wrap="square" lIns="6000" tIns="0" rIns="6000" bIns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</a:rPr>
              <a:t>CBR6</a:t>
            </a:r>
          </a:p>
        </p:txBody>
      </p:sp>
      <p:sp>
        <p:nvSpPr>
          <p:cNvPr id="61" name="s"/>
          <p:cNvSpPr/>
          <p:nvPr/>
        </p:nvSpPr>
        <p:spPr>
          <a:xfrm>
            <a:off x="7607300" y="3124200"/>
            <a:ext cx="37719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vi-VN" sz="1500" b="1" dirty="0">
                <a:solidFill>
                  <a:srgbClr val="1A2438"/>
                </a:solidFill>
              </a:rPr>
              <a:t>Tính giá</a:t>
            </a:r>
          </a:p>
          <a:p>
            <a:pPr algn="l">
              <a:spcBef>
                <a:spcPts val="300"/>
              </a:spcBef>
            </a:pPr>
            <a:r>
              <a:rPr lang="vi-VN" sz="1350" dirty="0">
                <a:solidFill>
                  <a:srgbClr val="33415C"/>
                </a:solidFill>
              </a:rPr>
              <a:t>FinalPrice = tổng PriceSnapshot (VND, số nguyên).</a:t>
            </a:r>
          </a:p>
        </p:txBody>
      </p:sp>
      <p:sp>
        <p:nvSpPr>
          <p:cNvPr id="62" name="s"/>
          <p:cNvSpPr/>
          <p:nvPr/>
        </p:nvSpPr>
        <p:spPr>
          <a:xfrm>
            <a:off x="838200" y="4140200"/>
            <a:ext cx="5219700" cy="939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s"/>
          <p:cNvSpPr/>
          <p:nvPr/>
        </p:nvSpPr>
        <p:spPr>
          <a:xfrm>
            <a:off x="1016000" y="4356100"/>
            <a:ext cx="889000" cy="5080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>
            <a:noFill/>
          </a:ln>
        </p:spPr>
        <p:txBody>
          <a:bodyPr wrap="square" lIns="6000" tIns="0" rIns="6000" bIns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</a:rPr>
              <a:t>CBR7</a:t>
            </a:r>
          </a:p>
        </p:txBody>
      </p:sp>
      <p:sp>
        <p:nvSpPr>
          <p:cNvPr id="64" name="s"/>
          <p:cNvSpPr/>
          <p:nvPr/>
        </p:nvSpPr>
        <p:spPr>
          <a:xfrm>
            <a:off x="2082800" y="4241800"/>
            <a:ext cx="37719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vi-VN" sz="1500" b="1" dirty="0">
                <a:solidFill>
                  <a:srgbClr val="1A2438"/>
                </a:solidFill>
              </a:rPr>
              <a:t>Công suất</a:t>
            </a:r>
          </a:p>
          <a:p>
            <a:pPr algn="l">
              <a:spcBef>
                <a:spcPts val="300"/>
              </a:spcBef>
            </a:pPr>
            <a:r>
              <a:rPr lang="vi-VN" sz="1350" dirty="0">
                <a:solidFill>
                  <a:srgbClr val="33415C"/>
                </a:solidFill>
              </a:rPr>
              <a:t>Tối đa 3 lượt / khung 1 giờ (walk-in không giới hạn).</a:t>
            </a:r>
          </a:p>
        </p:txBody>
      </p:sp>
      <p:sp>
        <p:nvSpPr>
          <p:cNvPr id="65" name="s"/>
          <p:cNvSpPr/>
          <p:nvPr/>
        </p:nvSpPr>
        <p:spPr>
          <a:xfrm>
            <a:off x="6362700" y="4140200"/>
            <a:ext cx="5219700" cy="939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s"/>
          <p:cNvSpPr/>
          <p:nvPr/>
        </p:nvSpPr>
        <p:spPr>
          <a:xfrm>
            <a:off x="6540500" y="4356100"/>
            <a:ext cx="889000" cy="5080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>
            <a:noFill/>
          </a:ln>
        </p:spPr>
        <p:txBody>
          <a:bodyPr wrap="square" lIns="6000" tIns="0" rIns="6000" bIns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</a:rPr>
              <a:t>CBR8</a:t>
            </a:r>
          </a:p>
        </p:txBody>
      </p:sp>
      <p:sp>
        <p:nvSpPr>
          <p:cNvPr id="67" name="s"/>
          <p:cNvSpPr/>
          <p:nvPr/>
        </p:nvSpPr>
        <p:spPr>
          <a:xfrm>
            <a:off x="7607300" y="4241800"/>
            <a:ext cx="37719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vi-VN" sz="1500" b="1" dirty="0">
                <a:solidFill>
                  <a:srgbClr val="1A2438"/>
                </a:solidFill>
              </a:rPr>
              <a:t>FIFO hàng chờ</a:t>
            </a:r>
          </a:p>
          <a:p>
            <a:pPr algn="l">
              <a:spcBef>
                <a:spcPts val="300"/>
              </a:spcBef>
            </a:pPr>
            <a:r>
              <a:rPr lang="vi-VN" sz="1350" dirty="0">
                <a:solidFill>
                  <a:srgbClr val="33415C"/>
                </a:solidFill>
              </a:rPr>
              <a:t>Sắp xếp theo CheckInAt tăng dần.</a:t>
            </a:r>
          </a:p>
        </p:txBody>
      </p:sp>
      <p:sp>
        <p:nvSpPr>
          <p:cNvPr id="68" name="s"/>
          <p:cNvSpPr/>
          <p:nvPr/>
        </p:nvSpPr>
        <p:spPr>
          <a:xfrm>
            <a:off x="838200" y="5257800"/>
            <a:ext cx="5219700" cy="939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s"/>
          <p:cNvSpPr/>
          <p:nvPr/>
        </p:nvSpPr>
        <p:spPr>
          <a:xfrm>
            <a:off x="1016000" y="5473700"/>
            <a:ext cx="889000" cy="5080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>
            <a:noFill/>
          </a:ln>
        </p:spPr>
        <p:txBody>
          <a:bodyPr wrap="square" lIns="6000" tIns="0" rIns="6000" bIns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</a:rPr>
              <a:t>CBR9</a:t>
            </a:r>
          </a:p>
        </p:txBody>
      </p:sp>
      <p:sp>
        <p:nvSpPr>
          <p:cNvPr id="70" name="s"/>
          <p:cNvSpPr/>
          <p:nvPr/>
        </p:nvSpPr>
        <p:spPr>
          <a:xfrm>
            <a:off x="2082800" y="5359400"/>
            <a:ext cx="37719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vi-VN" sz="1500" b="1" dirty="0">
                <a:solidFill>
                  <a:srgbClr val="1A2438"/>
                </a:solidFill>
              </a:rPr>
              <a:t>Toàn vẹn dữ liệu</a:t>
            </a:r>
          </a:p>
          <a:p>
            <a:pPr algn="l">
              <a:spcBef>
                <a:spcPts val="300"/>
              </a:spcBef>
            </a:pPr>
            <a:r>
              <a:rPr lang="vi-VN" sz="1350" dirty="0">
                <a:solidFill>
                  <a:srgbClr val="33415C"/>
                </a:solidFill>
              </a:rPr>
              <a:t>Thao tác nhiều bước bọc trong transaction.</a:t>
            </a:r>
          </a:p>
        </p:txBody>
      </p:sp>
    </p:spTree>
    <p:extLst>
      <p:ext uri="{BB962C8B-B14F-4D97-AF65-F5344CB8AC3E}">
        <p14:creationId xmlns:p14="http://schemas.microsoft.com/office/powerpoint/2010/main" val="1852878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B8C8-EB3D-CC14-4155-7179E9AFC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Yêu cầu phi chức năng (NFR)</a:t>
            </a:r>
          </a:p>
        </p:txBody>
      </p:sp>
      <p:sp>
        <p:nvSpPr>
          <p:cNvPr id="50" name="s"/>
          <p:cNvSpPr/>
          <p:nvPr/>
        </p:nvSpPr>
        <p:spPr>
          <a:xfrm>
            <a:off x="838200" y="1892300"/>
            <a:ext cx="76200" cy="279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s"/>
          <p:cNvSpPr/>
          <p:nvPr/>
        </p:nvSpPr>
        <p:spPr>
          <a:xfrm>
            <a:off x="1041400" y="18542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vi-VN" sz="1800" b="1" dirty="0">
                <a:solidFill>
                  <a:srgbClr val="1A2438"/>
                </a:solidFill>
              </a:rPr>
              <a:t>Hiệu năng</a:t>
            </a:r>
          </a:p>
        </p:txBody>
      </p:sp>
      <p:sp>
        <p:nvSpPr>
          <p:cNvPr id="52" name="s"/>
          <p:cNvSpPr/>
          <p:nvPr/>
        </p:nvSpPr>
        <p:spPr>
          <a:xfrm>
            <a:off x="838200" y="2362200"/>
            <a:ext cx="1981200" cy="1320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s"/>
          <p:cNvSpPr/>
          <p:nvPr/>
        </p:nvSpPr>
        <p:spPr>
          <a:xfrm>
            <a:off x="939800" y="2565400"/>
            <a:ext cx="1778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600" b="1" dirty="0">
                <a:solidFill>
                  <a:srgbClr val="2563EB"/>
                </a:solidFill>
              </a:rPr>
              <a:t>&lt; 2s</a:t>
            </a:r>
          </a:p>
        </p:txBody>
      </p:sp>
      <p:sp>
        <p:nvSpPr>
          <p:cNvPr id="54" name="s"/>
          <p:cNvSpPr/>
          <p:nvPr/>
        </p:nvSpPr>
        <p:spPr>
          <a:xfrm>
            <a:off x="939800" y="31242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ts val="1500"/>
              </a:lnSpc>
            </a:pPr>
            <a:r>
              <a:rPr lang="vi-VN" sz="1300" dirty="0">
                <a:solidFill>
                  <a:srgbClr val="33415C"/>
                </a:solidFill>
              </a:rPr>
              <a:t>API tiêu chuẩn (P95)</a:t>
            </a:r>
          </a:p>
        </p:txBody>
      </p:sp>
      <p:sp>
        <p:nvSpPr>
          <p:cNvPr id="55" name="s"/>
          <p:cNvSpPr/>
          <p:nvPr/>
        </p:nvSpPr>
        <p:spPr>
          <a:xfrm>
            <a:off x="3028950" y="2362200"/>
            <a:ext cx="1981200" cy="1320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s"/>
          <p:cNvSpPr/>
          <p:nvPr/>
        </p:nvSpPr>
        <p:spPr>
          <a:xfrm>
            <a:off x="3130550" y="2565400"/>
            <a:ext cx="1778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600" b="1" dirty="0">
                <a:solidFill>
                  <a:srgbClr val="2563EB"/>
                </a:solidFill>
              </a:rPr>
              <a:t>&lt; 3s</a:t>
            </a:r>
          </a:p>
        </p:txBody>
      </p:sp>
      <p:sp>
        <p:nvSpPr>
          <p:cNvPr id="57" name="s"/>
          <p:cNvSpPr/>
          <p:nvPr/>
        </p:nvSpPr>
        <p:spPr>
          <a:xfrm>
            <a:off x="3130550" y="31242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ts val="1500"/>
              </a:lnSpc>
            </a:pPr>
            <a:r>
              <a:rPr lang="vi-VN" sz="1300" dirty="0">
                <a:solidFill>
                  <a:srgbClr val="33415C"/>
                </a:solidFill>
              </a:rPr>
              <a:t>Tạo booking</a:t>
            </a:r>
          </a:p>
        </p:txBody>
      </p:sp>
      <p:sp>
        <p:nvSpPr>
          <p:cNvPr id="58" name="s"/>
          <p:cNvSpPr/>
          <p:nvPr/>
        </p:nvSpPr>
        <p:spPr>
          <a:xfrm>
            <a:off x="5219700" y="2362200"/>
            <a:ext cx="1981200" cy="1320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s"/>
          <p:cNvSpPr/>
          <p:nvPr/>
        </p:nvSpPr>
        <p:spPr>
          <a:xfrm>
            <a:off x="5321300" y="2565400"/>
            <a:ext cx="1778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600" b="1" dirty="0">
                <a:solidFill>
                  <a:srgbClr val="2563EB"/>
                </a:solidFill>
              </a:rPr>
              <a:t>&lt; 60s</a:t>
            </a:r>
          </a:p>
        </p:txBody>
      </p:sp>
      <p:sp>
        <p:nvSpPr>
          <p:cNvPr id="60" name="s"/>
          <p:cNvSpPr/>
          <p:nvPr/>
        </p:nvSpPr>
        <p:spPr>
          <a:xfrm>
            <a:off x="5321300" y="31242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ts val="1500"/>
              </a:lnSpc>
            </a:pPr>
            <a:r>
              <a:rPr lang="vi-VN" sz="1300" dirty="0">
                <a:solidFill>
                  <a:srgbClr val="33415C"/>
                </a:solidFill>
              </a:rPr>
              <a:t>Email OTP</a:t>
            </a:r>
          </a:p>
        </p:txBody>
      </p:sp>
      <p:sp>
        <p:nvSpPr>
          <p:cNvPr id="61" name="s"/>
          <p:cNvSpPr/>
          <p:nvPr/>
        </p:nvSpPr>
        <p:spPr>
          <a:xfrm>
            <a:off x="7410450" y="2362200"/>
            <a:ext cx="1981200" cy="1320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s"/>
          <p:cNvSpPr/>
          <p:nvPr/>
        </p:nvSpPr>
        <p:spPr>
          <a:xfrm>
            <a:off x="7512050" y="2565400"/>
            <a:ext cx="1778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600" b="1" dirty="0">
                <a:solidFill>
                  <a:srgbClr val="2563EB"/>
                </a:solidFill>
              </a:rPr>
              <a:t>&lt; 5s</a:t>
            </a:r>
          </a:p>
        </p:txBody>
      </p:sp>
      <p:sp>
        <p:nvSpPr>
          <p:cNvPr id="63" name="s"/>
          <p:cNvSpPr/>
          <p:nvPr/>
        </p:nvSpPr>
        <p:spPr>
          <a:xfrm>
            <a:off x="7512050" y="31242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ts val="1500"/>
              </a:lnSpc>
            </a:pPr>
            <a:r>
              <a:rPr lang="vi-VN" sz="1300" dirty="0">
                <a:solidFill>
                  <a:srgbClr val="33415C"/>
                </a:solidFill>
              </a:rPr>
              <a:t>Kết quả LPR</a:t>
            </a:r>
          </a:p>
        </p:txBody>
      </p:sp>
      <p:sp>
        <p:nvSpPr>
          <p:cNvPr id="64" name="s"/>
          <p:cNvSpPr/>
          <p:nvPr/>
        </p:nvSpPr>
        <p:spPr>
          <a:xfrm>
            <a:off x="9601200" y="2362200"/>
            <a:ext cx="1981200" cy="13208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s"/>
          <p:cNvSpPr/>
          <p:nvPr/>
        </p:nvSpPr>
        <p:spPr>
          <a:xfrm>
            <a:off x="9702800" y="2565400"/>
            <a:ext cx="177800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600" b="1" dirty="0">
                <a:solidFill>
                  <a:srgbClr val="2563EB"/>
                </a:solidFill>
              </a:rPr>
              <a:t>50</a:t>
            </a:r>
          </a:p>
        </p:txBody>
      </p:sp>
      <p:sp>
        <p:nvSpPr>
          <p:cNvPr id="66" name="s"/>
          <p:cNvSpPr/>
          <p:nvPr/>
        </p:nvSpPr>
        <p:spPr>
          <a:xfrm>
            <a:off x="9702800" y="31242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ts val="1500"/>
              </a:lnSpc>
            </a:pPr>
            <a:r>
              <a:rPr lang="vi-VN" sz="1300" dirty="0">
                <a:solidFill>
                  <a:srgbClr val="33415C"/>
                </a:solidFill>
              </a:rPr>
              <a:t>Phiên đồng thời</a:t>
            </a:r>
          </a:p>
        </p:txBody>
      </p:sp>
      <p:sp>
        <p:nvSpPr>
          <p:cNvPr id="67" name="s"/>
          <p:cNvSpPr/>
          <p:nvPr/>
        </p:nvSpPr>
        <p:spPr>
          <a:xfrm>
            <a:off x="838200" y="4076700"/>
            <a:ext cx="76200" cy="279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s"/>
          <p:cNvSpPr/>
          <p:nvPr/>
        </p:nvSpPr>
        <p:spPr>
          <a:xfrm>
            <a:off x="1041400" y="4038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vi-VN" sz="1800" b="1" dirty="0">
                <a:solidFill>
                  <a:srgbClr val="1A2438"/>
                </a:solidFill>
              </a:rPr>
              <a:t>Sẵn sàng &amp; tin cậy</a:t>
            </a:r>
          </a:p>
        </p:txBody>
      </p:sp>
      <p:sp>
        <p:nvSpPr>
          <p:cNvPr id="69" name="s"/>
          <p:cNvSpPr/>
          <p:nvPr/>
        </p:nvSpPr>
        <p:spPr>
          <a:xfrm>
            <a:off x="838200" y="4546600"/>
            <a:ext cx="2533650" cy="9144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2700">
            <a:solidFill>
              <a:srgbClr val="C7DAF4"/>
            </a:solidFill>
          </a:ln>
        </p:spPr>
        <p:txBody>
          <a:bodyPr lIns="90000" tIns="45000" rIns="90000" bIns="45000" anchor="ctr"/>
          <a:lstStyle/>
          <a:p>
            <a:pPr algn="ctr">
              <a:lnSpc>
                <a:spcPts val="1600"/>
              </a:lnSpc>
            </a:pPr>
            <a:r>
              <a:rPr lang="vi-VN" sz="1400" b="1" dirty="0">
                <a:solidFill>
                  <a:srgbClr val="1A3A6B"/>
                </a:solidFill>
              </a:rPr>
              <a:t>Uptime ≥ 99% (07:00–22:00 ICT)</a:t>
            </a:r>
          </a:p>
        </p:txBody>
      </p:sp>
      <p:sp>
        <p:nvSpPr>
          <p:cNvPr id="70" name="s"/>
          <p:cNvSpPr/>
          <p:nvPr/>
        </p:nvSpPr>
        <p:spPr>
          <a:xfrm>
            <a:off x="3575050" y="4546600"/>
            <a:ext cx="2533650" cy="9144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2700">
            <a:solidFill>
              <a:srgbClr val="C7DAF4"/>
            </a:solidFill>
          </a:ln>
        </p:spPr>
        <p:txBody>
          <a:bodyPr lIns="90000" tIns="45000" rIns="90000" bIns="45000" anchor="ctr"/>
          <a:lstStyle/>
          <a:p>
            <a:pPr algn="ctr">
              <a:lnSpc>
                <a:spcPts val="1600"/>
              </a:lnSpc>
            </a:pPr>
            <a:r>
              <a:rPr lang="vi-VN" sz="1400" b="1" dirty="0">
                <a:solidFill>
                  <a:srgbClr val="1A3A6B"/>
                </a:solidFill>
              </a:rPr>
              <a:t>Bảo trì ngoài giờ làm việc</a:t>
            </a:r>
          </a:p>
        </p:txBody>
      </p:sp>
      <p:sp>
        <p:nvSpPr>
          <p:cNvPr id="71" name="s"/>
          <p:cNvSpPr/>
          <p:nvPr/>
        </p:nvSpPr>
        <p:spPr>
          <a:xfrm>
            <a:off x="6311900" y="4546600"/>
            <a:ext cx="2533650" cy="9144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2700">
            <a:solidFill>
              <a:srgbClr val="C7DAF4"/>
            </a:solidFill>
          </a:ln>
        </p:spPr>
        <p:txBody>
          <a:bodyPr lIns="90000" tIns="45000" rIns="90000" bIns="45000" anchor="ctr"/>
          <a:lstStyle/>
          <a:p>
            <a:pPr algn="ctr">
              <a:lnSpc>
                <a:spcPts val="1600"/>
              </a:lnSpc>
            </a:pPr>
            <a:r>
              <a:rPr lang="vi-VN" sz="1400" b="1" dirty="0">
                <a:solidFill>
                  <a:srgbClr val="1A3A6B"/>
                </a:solidFill>
              </a:rPr>
              <a:t>Ghi CSDL trong transaction</a:t>
            </a:r>
          </a:p>
        </p:txBody>
      </p:sp>
      <p:sp>
        <p:nvSpPr>
          <p:cNvPr id="72" name="s"/>
          <p:cNvSpPr/>
          <p:nvPr/>
        </p:nvSpPr>
        <p:spPr>
          <a:xfrm>
            <a:off x="9048750" y="4546600"/>
            <a:ext cx="2533650" cy="9144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2700">
            <a:solidFill>
              <a:srgbClr val="C7DAF4"/>
            </a:solidFill>
          </a:ln>
        </p:spPr>
        <p:txBody>
          <a:bodyPr lIns="90000" tIns="45000" rIns="90000" bIns="45000" anchor="ctr"/>
          <a:lstStyle/>
          <a:p>
            <a:pPr algn="ctr">
              <a:lnSpc>
                <a:spcPts val="1600"/>
              </a:lnSpc>
            </a:pPr>
            <a:r>
              <a:rPr lang="vi-VN" sz="1400" b="1" dirty="0">
                <a:solidFill>
                  <a:srgbClr val="1A3A6B"/>
                </a:solidFill>
              </a:rPr>
              <a:t>Dự phòng LPR thủ công</a:t>
            </a:r>
          </a:p>
        </p:txBody>
      </p:sp>
    </p:spTree>
    <p:extLst>
      <p:ext uri="{BB962C8B-B14F-4D97-AF65-F5344CB8AC3E}">
        <p14:creationId xmlns:p14="http://schemas.microsoft.com/office/powerpoint/2010/main" val="2890702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93239-A173-59A2-8141-0D1C1F20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Bảo mật &amp; Khả dụng</a:t>
            </a:r>
          </a:p>
        </p:txBody>
      </p:sp>
      <p:sp>
        <p:nvSpPr>
          <p:cNvPr id="50" name="s"/>
          <p:cNvSpPr/>
          <p:nvPr/>
        </p:nvSpPr>
        <p:spPr>
          <a:xfrm>
            <a:off x="838200" y="1905000"/>
            <a:ext cx="521970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"/>
          <p:cNvSpPr/>
          <p:nvPr/>
        </p:nvSpPr>
        <p:spPr>
          <a:xfrm>
            <a:off x="1143000" y="2209800"/>
            <a:ext cx="609600" cy="609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s"/>
          <p:cNvSpPr/>
          <p:nvPr/>
        </p:nvSpPr>
        <p:spPr>
          <a:xfrm>
            <a:off x="1930400" y="2260600"/>
            <a:ext cx="39497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vi-VN" sz="2000" b="1" dirty="0">
                <a:solidFill>
                  <a:srgbClr val="2563EB"/>
                </a:solidFill>
              </a:rPr>
              <a:t>Bảo mật</a:t>
            </a:r>
          </a:p>
        </p:txBody>
      </p:sp>
      <p:sp>
        <p:nvSpPr>
          <p:cNvPr id="53" name="s"/>
          <p:cNvSpPr/>
          <p:nvPr/>
        </p:nvSpPr>
        <p:spPr>
          <a:xfrm>
            <a:off x="1143000" y="2997200"/>
            <a:ext cx="4610100" cy="25400"/>
          </a:xfrm>
          <a:prstGeom prst="rect">
            <a:avLst/>
          </a:prstGeom>
          <a:solidFill>
            <a:srgbClr val="E4EC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s"/>
          <p:cNvSpPr/>
          <p:nvPr/>
        </p:nvSpPr>
        <p:spPr>
          <a:xfrm>
            <a:off x="1168400" y="3175000"/>
            <a:ext cx="4559300" cy="287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vi-VN" sz="1500" dirty="0">
                <a:solidFill>
                  <a:srgbClr val="33415C"/>
                </a:solidFill>
              </a:rPr>
              <a:t>Mật khẩu băm bcrypt — không log plaintext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vi-VN" sz="1500" dirty="0">
                <a:solidFill>
                  <a:srgbClr val="33415C"/>
                </a:solidFill>
              </a:rPr>
              <a:t>Session idle 8h · cookie HttpOnly + Secure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vi-VN" sz="1500" dirty="0">
                <a:solidFill>
                  <a:srgbClr val="33415C"/>
                </a:solidFill>
              </a:rPr>
              <a:t>Toàn bộ production dùng HTTPS · secret trong biến môi trường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vi-VN" sz="1500" dirty="0">
                <a:solidFill>
                  <a:srgbClr val="33415C"/>
                </a:solidFill>
              </a:rPr>
              <a:t>Kiểm tra dữ liệu phía máy chủ (regex biển số, quy tắc ngày đặt)</a:t>
            </a:r>
          </a:p>
        </p:txBody>
      </p:sp>
      <p:sp>
        <p:nvSpPr>
          <p:cNvPr id="55" name="s"/>
          <p:cNvSpPr/>
          <p:nvPr/>
        </p:nvSpPr>
        <p:spPr>
          <a:xfrm>
            <a:off x="6362700" y="1905000"/>
            <a:ext cx="521970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s"/>
          <p:cNvSpPr/>
          <p:nvPr/>
        </p:nvSpPr>
        <p:spPr>
          <a:xfrm>
            <a:off x="6667500" y="2209800"/>
            <a:ext cx="609600" cy="6096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s"/>
          <p:cNvSpPr/>
          <p:nvPr/>
        </p:nvSpPr>
        <p:spPr>
          <a:xfrm>
            <a:off x="7454900" y="2260600"/>
            <a:ext cx="39497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vi-VN" sz="2000" b="1" dirty="0">
                <a:solidFill>
                  <a:srgbClr val="0EA5E9"/>
                </a:solidFill>
              </a:rPr>
              <a:t>Khả dụng</a:t>
            </a:r>
          </a:p>
        </p:txBody>
      </p:sp>
      <p:sp>
        <p:nvSpPr>
          <p:cNvPr id="58" name="s"/>
          <p:cNvSpPr/>
          <p:nvPr/>
        </p:nvSpPr>
        <p:spPr>
          <a:xfrm>
            <a:off x="6667500" y="2997200"/>
            <a:ext cx="4610100" cy="25400"/>
          </a:xfrm>
          <a:prstGeom prst="rect">
            <a:avLst/>
          </a:prstGeom>
          <a:solidFill>
            <a:srgbClr val="E4EC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s"/>
          <p:cNvSpPr/>
          <p:nvPr/>
        </p:nvSpPr>
        <p:spPr>
          <a:xfrm>
            <a:off x="6692900" y="3175000"/>
            <a:ext cx="4559300" cy="287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vi-VN" sz="1500" dirty="0">
                <a:solidFill>
                  <a:srgbClr val="33415C"/>
                </a:solidFill>
              </a:rPr>
              <a:t>Responsive — Mobile ≥ 375px (khách), Desktop ≥ 1024px (nhân viên)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vi-VN" sz="1500" dirty="0">
                <a:solidFill>
                  <a:srgbClr val="33415C"/>
                </a:solidFill>
              </a:rPr>
              <a:t>Thông điệp lỗi rõ ràng (MSG1–MSG25)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vi-VN" sz="1500" dirty="0">
                <a:solidFill>
                  <a:srgbClr val="33415C"/>
                </a:solidFill>
              </a:rPr>
              <a:t>Loading indicator khi hệ thống xử lý</a:t>
            </a:r>
          </a:p>
          <a:p>
            <a:pPr marL="228600" indent="-228600">
              <a:lnSpc>
                <a:spcPts val="2000"/>
              </a:lnSpc>
              <a:spcAft>
                <a:spcPts val="600"/>
              </a:spcAft>
              <a:buFont typeface="Arial"/>
              <a:buChar char="•"/>
            </a:pPr>
            <a:r>
              <a:rPr lang="vi-VN" sz="1500" dirty="0">
                <a:solidFill>
                  <a:srgbClr val="33415C"/>
                </a:solidFill>
              </a:rPr>
              <a:t>Bản tóm tắt trước khi khách xác nhận</a:t>
            </a:r>
          </a:p>
        </p:txBody>
      </p:sp>
      <p:pic>
        <p:nvPicPr>
          <p:cNvPr id="60" name="Graphic 60" descr="Security shiel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2336800"/>
            <a:ext cx="355600" cy="355600"/>
          </a:xfrm>
          <a:prstGeom prst="rect">
            <a:avLst/>
          </a:prstGeom>
        </p:spPr>
      </p:pic>
      <p:pic>
        <p:nvPicPr>
          <p:cNvPr id="61" name="Graphic 61" descr="Usability devices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500" y="23368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65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ECE8-0C0D-7039-611A-34A196C96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Tích hợp &amp; Di trú dữ liệu</a:t>
            </a:r>
          </a:p>
        </p:txBody>
      </p:sp>
      <p:sp>
        <p:nvSpPr>
          <p:cNvPr id="50" name="s"/>
          <p:cNvSpPr/>
          <p:nvPr/>
        </p:nvSpPr>
        <p:spPr>
          <a:xfrm>
            <a:off x="838200" y="1892300"/>
            <a:ext cx="76200" cy="279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s"/>
          <p:cNvSpPr/>
          <p:nvPr/>
        </p:nvSpPr>
        <p:spPr>
          <a:xfrm>
            <a:off x="1041400" y="18542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vi-VN" sz="1800" b="1" dirty="0">
                <a:solidFill>
                  <a:srgbClr val="1A2438"/>
                </a:solidFill>
              </a:rPr>
              <a:t>Tích hợp hệ thống</a:t>
            </a:r>
          </a:p>
        </p:txBody>
      </p:sp>
      <p:sp>
        <p:nvSpPr>
          <p:cNvPr id="52" name="s"/>
          <p:cNvSpPr/>
          <p:nvPr/>
        </p:nvSpPr>
        <p:spPr>
          <a:xfrm>
            <a:off x="838200" y="2336800"/>
            <a:ext cx="2533650" cy="19812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s"/>
          <p:cNvSpPr/>
          <p:nvPr/>
        </p:nvSpPr>
        <p:spPr>
          <a:xfrm>
            <a:off x="1800225" y="2565400"/>
            <a:ext cx="609600" cy="6096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s"/>
          <p:cNvSpPr/>
          <p:nvPr/>
        </p:nvSpPr>
        <p:spPr>
          <a:xfrm>
            <a:off x="939800" y="3276600"/>
            <a:ext cx="23304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vi-VN" sz="1500" b="1" dirty="0">
                <a:solidFill>
                  <a:srgbClr val="1A2438"/>
                </a:solidFill>
              </a:rPr>
              <a:t>PostgreSQL / Supabase</a:t>
            </a:r>
          </a:p>
        </p:txBody>
      </p:sp>
      <p:sp>
        <p:nvSpPr>
          <p:cNvPr id="55" name="s"/>
          <p:cNvSpPr/>
          <p:nvPr/>
        </p:nvSpPr>
        <p:spPr>
          <a:xfrm>
            <a:off x="965200" y="3606800"/>
            <a:ext cx="22796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ts val="1500"/>
              </a:lnSpc>
            </a:pPr>
            <a:r>
              <a:rPr lang="vi-VN" sz="1300" dirty="0">
                <a:solidFill>
                  <a:srgbClr val="33415C"/>
                </a:solidFill>
              </a:rPr>
              <a:t>Kết nối SSL bắt buộc</a:t>
            </a:r>
          </a:p>
        </p:txBody>
      </p:sp>
      <p:sp>
        <p:nvSpPr>
          <p:cNvPr id="56" name="s"/>
          <p:cNvSpPr/>
          <p:nvPr/>
        </p:nvSpPr>
        <p:spPr>
          <a:xfrm>
            <a:off x="3575050" y="2336800"/>
            <a:ext cx="2533650" cy="19812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s"/>
          <p:cNvSpPr/>
          <p:nvPr/>
        </p:nvSpPr>
        <p:spPr>
          <a:xfrm>
            <a:off x="4537075" y="2565400"/>
            <a:ext cx="609600" cy="609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s"/>
          <p:cNvSpPr/>
          <p:nvPr/>
        </p:nvSpPr>
        <p:spPr>
          <a:xfrm>
            <a:off x="3676650" y="3276600"/>
            <a:ext cx="23304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vi-VN" sz="1500" b="1" dirty="0">
                <a:solidFill>
                  <a:srgbClr val="1A2438"/>
                </a:solidFill>
              </a:rPr>
              <a:t>Gmail SMTP + MailKit</a:t>
            </a:r>
          </a:p>
        </p:txBody>
      </p:sp>
      <p:sp>
        <p:nvSpPr>
          <p:cNvPr id="59" name="s"/>
          <p:cNvSpPr/>
          <p:nvPr/>
        </p:nvSpPr>
        <p:spPr>
          <a:xfrm>
            <a:off x="3702050" y="3606800"/>
            <a:ext cx="22796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ts val="1500"/>
              </a:lnSpc>
            </a:pPr>
            <a:r>
              <a:rPr lang="vi-VN" sz="1300" dirty="0">
                <a:solidFill>
                  <a:srgbClr val="33415C"/>
                </a:solidFill>
              </a:rPr>
              <a:t>Port 587 · STARTTLS</a:t>
            </a:r>
          </a:p>
        </p:txBody>
      </p:sp>
      <p:sp>
        <p:nvSpPr>
          <p:cNvPr id="60" name="s"/>
          <p:cNvSpPr/>
          <p:nvPr/>
        </p:nvSpPr>
        <p:spPr>
          <a:xfrm>
            <a:off x="6311900" y="2336800"/>
            <a:ext cx="2533650" cy="19812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s"/>
          <p:cNvSpPr/>
          <p:nvPr/>
        </p:nvSpPr>
        <p:spPr>
          <a:xfrm>
            <a:off x="7273925" y="2565400"/>
            <a:ext cx="609600" cy="609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"/>
          <p:cNvSpPr/>
          <p:nvPr/>
        </p:nvSpPr>
        <p:spPr>
          <a:xfrm>
            <a:off x="6413500" y="3276600"/>
            <a:ext cx="23304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vi-VN" sz="1500" b="1" dirty="0">
                <a:solidFill>
                  <a:srgbClr val="1A2438"/>
                </a:solidFill>
              </a:rPr>
              <a:t>Camera LPR + LPR API</a:t>
            </a:r>
          </a:p>
        </p:txBody>
      </p:sp>
      <p:sp>
        <p:nvSpPr>
          <p:cNvPr id="63" name="s"/>
          <p:cNvSpPr/>
          <p:nvPr/>
        </p:nvSpPr>
        <p:spPr>
          <a:xfrm>
            <a:off x="6438900" y="3606800"/>
            <a:ext cx="22796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ts val="1500"/>
              </a:lnSpc>
            </a:pPr>
            <a:r>
              <a:rPr lang="vi-VN" sz="1300" dirty="0">
                <a:solidFill>
                  <a:srgbClr val="33415C"/>
                </a:solidFill>
              </a:rPr>
              <a:t>Timeout 5s · fallback thủ công</a:t>
            </a:r>
          </a:p>
        </p:txBody>
      </p:sp>
      <p:sp>
        <p:nvSpPr>
          <p:cNvPr id="64" name="s"/>
          <p:cNvSpPr/>
          <p:nvPr/>
        </p:nvSpPr>
        <p:spPr>
          <a:xfrm>
            <a:off x="9048750" y="2336800"/>
            <a:ext cx="2533650" cy="19812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s"/>
          <p:cNvSpPr/>
          <p:nvPr/>
        </p:nvSpPr>
        <p:spPr>
          <a:xfrm>
            <a:off x="10010775" y="2565400"/>
            <a:ext cx="609600" cy="609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s"/>
          <p:cNvSpPr/>
          <p:nvPr/>
        </p:nvSpPr>
        <p:spPr>
          <a:xfrm>
            <a:off x="9150350" y="3276600"/>
            <a:ext cx="23304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vi-VN" sz="1500" b="1" dirty="0">
                <a:solidFill>
                  <a:srgbClr val="1A2438"/>
                </a:solidFill>
              </a:rPr>
              <a:t>React SPA</a:t>
            </a:r>
          </a:p>
        </p:txBody>
      </p:sp>
      <p:sp>
        <p:nvSpPr>
          <p:cNvPr id="67" name="s"/>
          <p:cNvSpPr/>
          <p:nvPr/>
        </p:nvSpPr>
        <p:spPr>
          <a:xfrm>
            <a:off x="9175750" y="3606800"/>
            <a:ext cx="22796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ts val="1500"/>
              </a:lnSpc>
            </a:pPr>
            <a:r>
              <a:rPr lang="vi-VN" sz="1300" dirty="0">
                <a:solidFill>
                  <a:srgbClr val="33415C"/>
                </a:solidFill>
              </a:rPr>
              <a:t>Phục vụ tĩnh qua ASP.NET Core</a:t>
            </a:r>
          </a:p>
        </p:txBody>
      </p:sp>
      <p:sp>
        <p:nvSpPr>
          <p:cNvPr id="68" name="s"/>
          <p:cNvSpPr/>
          <p:nvPr/>
        </p:nvSpPr>
        <p:spPr>
          <a:xfrm>
            <a:off x="838200" y="4660900"/>
            <a:ext cx="76200" cy="279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s"/>
          <p:cNvSpPr/>
          <p:nvPr/>
        </p:nvSpPr>
        <p:spPr>
          <a:xfrm>
            <a:off x="1041400" y="46228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vi-VN" sz="1800" b="1" dirty="0">
                <a:solidFill>
                  <a:srgbClr val="1A2438"/>
                </a:solidFill>
              </a:rPr>
              <a:t>Di trú dữ liệu</a:t>
            </a:r>
          </a:p>
        </p:txBody>
      </p:sp>
      <p:sp>
        <p:nvSpPr>
          <p:cNvPr id="70" name="s"/>
          <p:cNvSpPr/>
          <p:nvPr/>
        </p:nvSpPr>
        <p:spPr>
          <a:xfrm>
            <a:off x="838200" y="5080000"/>
            <a:ext cx="10744200" cy="99060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2700">
            <a:solidFill>
              <a:srgbClr val="B7E4CD"/>
            </a:solidFill>
          </a:ln>
        </p:spPr>
        <p:txBody>
          <a:bodyPr lIns="180000" tIns="90000" rIns="180000" bIns="90000" anchor="ctr"/>
          <a:lstStyle/>
          <a:p>
            <a:pPr>
              <a:lnSpc>
                <a:spcPts val="2000"/>
              </a:lnSpc>
            </a:pPr>
            <a:r>
              <a:rPr lang="vi-VN" sz="1550" b="1" dirty="0">
                <a:solidFill>
                  <a:srgbClr val="0B6B45"/>
                </a:solidFill>
              </a:rPr>
              <a:t>Hệ thống greenfield — không có dữ liệu cũ. </a:t>
            </a:r>
            <a:r>
              <a:rPr lang="vi-VN" sz="1550" dirty="0">
                <a:solidFill>
                  <a:srgbClr val="33415C"/>
                </a:solidFill>
              </a:rPr>
              <a:t>Chỉ seed dữ liệu khởi tạo (danh mục dịch vụ, tài khoản nhân viên) khi triển khai.</a:t>
            </a:r>
          </a:p>
        </p:txBody>
      </p:sp>
      <p:pic>
        <p:nvPicPr>
          <p:cNvPr id="71" name="Graphic 71" descr="Databas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3100" y="2705100"/>
            <a:ext cx="330200" cy="330200"/>
          </a:xfrm>
          <a:prstGeom prst="rect">
            <a:avLst/>
          </a:prstGeom>
        </p:spPr>
      </p:pic>
      <p:pic>
        <p:nvPicPr>
          <p:cNvPr id="72" name="Graphic 72" descr="Email SMTP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3600" y="2705100"/>
            <a:ext cx="330200" cy="330200"/>
          </a:xfrm>
          <a:prstGeom prst="rect">
            <a:avLst/>
          </a:prstGeom>
        </p:spPr>
      </p:pic>
      <p:pic>
        <p:nvPicPr>
          <p:cNvPr id="73" name="Graphic 73" descr="Camera LPR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16800" y="2705100"/>
            <a:ext cx="330200" cy="330200"/>
          </a:xfrm>
          <a:prstGeom prst="rect">
            <a:avLst/>
          </a:prstGeom>
        </p:spPr>
      </p:pic>
      <p:pic>
        <p:nvPicPr>
          <p:cNvPr id="74" name="Graphic 74" descr="React SPA web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47300" y="2705100"/>
            <a:ext cx="3302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821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3F883-7034-7D2F-E496-FAEE2DE0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latin typeface="Segoe UI"/>
                <a:cs typeface="Segoe UI"/>
              </a:rPr>
              <a:t>Tổng kết</a:t>
            </a:r>
          </a:p>
        </p:txBody>
      </p:sp>
      <p:sp>
        <p:nvSpPr>
          <p:cNvPr id="50" name="s"/>
          <p:cNvSpPr/>
          <p:nvPr/>
        </p:nvSpPr>
        <p:spPr>
          <a:xfrm>
            <a:off x="838200" y="1905000"/>
            <a:ext cx="2533650" cy="13970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"/>
          <p:cNvSpPr/>
          <p:nvPr/>
        </p:nvSpPr>
        <p:spPr>
          <a:xfrm>
            <a:off x="914400" y="2133600"/>
            <a:ext cx="23812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 dirty="0">
                <a:solidFill>
                  <a:srgbClr val="2563EB"/>
                </a:solidFill>
              </a:rPr>
              <a:t>24</a:t>
            </a:r>
          </a:p>
        </p:txBody>
      </p:sp>
      <p:sp>
        <p:nvSpPr>
          <p:cNvPr id="52" name="s"/>
          <p:cNvSpPr/>
          <p:nvPr/>
        </p:nvSpPr>
        <p:spPr>
          <a:xfrm>
            <a:off x="914400" y="2794000"/>
            <a:ext cx="238125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vi-VN" sz="1400" b="1" dirty="0">
                <a:solidFill>
                  <a:srgbClr val="33415C"/>
                </a:solidFill>
              </a:rPr>
              <a:t>Use Case</a:t>
            </a:r>
          </a:p>
        </p:txBody>
      </p:sp>
      <p:sp>
        <p:nvSpPr>
          <p:cNvPr id="53" name="s"/>
          <p:cNvSpPr/>
          <p:nvPr/>
        </p:nvSpPr>
        <p:spPr>
          <a:xfrm>
            <a:off x="3575050" y="1905000"/>
            <a:ext cx="2533650" cy="13970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s"/>
          <p:cNvSpPr/>
          <p:nvPr/>
        </p:nvSpPr>
        <p:spPr>
          <a:xfrm>
            <a:off x="3651250" y="2133600"/>
            <a:ext cx="23812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 dirty="0">
                <a:solidFill>
                  <a:srgbClr val="0EA5E9"/>
                </a:solidFill>
              </a:rPr>
              <a:t>5</a:t>
            </a:r>
          </a:p>
        </p:txBody>
      </p:sp>
      <p:sp>
        <p:nvSpPr>
          <p:cNvPr id="55" name="s"/>
          <p:cNvSpPr/>
          <p:nvPr/>
        </p:nvSpPr>
        <p:spPr>
          <a:xfrm>
            <a:off x="3651250" y="2794000"/>
            <a:ext cx="238125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vi-VN" sz="1400" b="1" dirty="0">
                <a:solidFill>
                  <a:srgbClr val="33415C"/>
                </a:solidFill>
              </a:rPr>
              <a:t>Phân hệ</a:t>
            </a:r>
          </a:p>
        </p:txBody>
      </p:sp>
      <p:sp>
        <p:nvSpPr>
          <p:cNvPr id="56" name="s"/>
          <p:cNvSpPr/>
          <p:nvPr/>
        </p:nvSpPr>
        <p:spPr>
          <a:xfrm>
            <a:off x="6311900" y="1905000"/>
            <a:ext cx="2533650" cy="13970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s"/>
          <p:cNvSpPr/>
          <p:nvPr/>
        </p:nvSpPr>
        <p:spPr>
          <a:xfrm>
            <a:off x="6388100" y="2133600"/>
            <a:ext cx="23812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 dirty="0">
                <a:solidFill>
                  <a:srgbClr val="6366F1"/>
                </a:solidFill>
              </a:rPr>
              <a:t>9</a:t>
            </a:r>
          </a:p>
        </p:txBody>
      </p:sp>
      <p:sp>
        <p:nvSpPr>
          <p:cNvPr id="58" name="s"/>
          <p:cNvSpPr/>
          <p:nvPr/>
        </p:nvSpPr>
        <p:spPr>
          <a:xfrm>
            <a:off x="6388100" y="2794000"/>
            <a:ext cx="238125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vi-VN" sz="1400" b="1" dirty="0">
                <a:solidFill>
                  <a:srgbClr val="33415C"/>
                </a:solidFill>
              </a:rPr>
              <a:t>Thực thể</a:t>
            </a:r>
          </a:p>
        </p:txBody>
      </p:sp>
      <p:sp>
        <p:nvSpPr>
          <p:cNvPr id="59" name="s"/>
          <p:cNvSpPr/>
          <p:nvPr/>
        </p:nvSpPr>
        <p:spPr>
          <a:xfrm>
            <a:off x="9048750" y="1905000"/>
            <a:ext cx="2533650" cy="1397000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s"/>
          <p:cNvSpPr/>
          <p:nvPr/>
        </p:nvSpPr>
        <p:spPr>
          <a:xfrm>
            <a:off x="9124950" y="2133600"/>
            <a:ext cx="238125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 dirty="0">
                <a:solidFill>
                  <a:srgbClr val="10B981"/>
                </a:solidFill>
              </a:rPr>
              <a:t>≥ 99%</a:t>
            </a:r>
          </a:p>
        </p:txBody>
      </p:sp>
      <p:sp>
        <p:nvSpPr>
          <p:cNvPr id="61" name="s"/>
          <p:cNvSpPr/>
          <p:nvPr/>
        </p:nvSpPr>
        <p:spPr>
          <a:xfrm>
            <a:off x="9124950" y="2794000"/>
            <a:ext cx="238125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vi-VN" sz="1400" b="1" dirty="0">
                <a:solidFill>
                  <a:srgbClr val="33415C"/>
                </a:solidFill>
              </a:rPr>
              <a:t>Uptime</a:t>
            </a:r>
          </a:p>
        </p:txBody>
      </p:sp>
      <p:sp>
        <p:nvSpPr>
          <p:cNvPr id="62" name="s"/>
          <p:cNvSpPr/>
          <p:nvPr/>
        </p:nvSpPr>
        <p:spPr>
          <a:xfrm>
            <a:off x="838200" y="3556000"/>
            <a:ext cx="10744200" cy="15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marL="228600" indent="-228600">
              <a:lnSpc>
                <a:spcPts val="2100"/>
              </a:lnSpc>
              <a:spcAft>
                <a:spcPts val="700"/>
              </a:spcAft>
              <a:buFont typeface="Arial"/>
              <a:buChar char="•"/>
            </a:pPr>
            <a:r>
              <a:rPr lang="vi-VN" sz="1600" dirty="0">
                <a:solidFill>
                  <a:srgbClr val="33415C"/>
                </a:solidFill>
              </a:rPr>
              <a:t>Quản lý toàn trình: đặt lịch → hàng chờ → hoàn tất → thông báo.</a:t>
            </a:r>
          </a:p>
          <a:p>
            <a:pPr marL="228600" indent="-228600">
              <a:lnSpc>
                <a:spcPts val="2100"/>
              </a:lnSpc>
              <a:spcAft>
                <a:spcPts val="700"/>
              </a:spcAft>
              <a:buFont typeface="Arial"/>
              <a:buChar char="•"/>
            </a:pPr>
            <a:r>
              <a:rPr lang="vi-VN" sz="1600" dirty="0">
                <a:solidFill>
                  <a:srgbClr val="33415C"/>
                </a:solidFill>
              </a:rPr>
              <a:t>Điểm nhấn kỹ thuật: LPR (dự phòng thủ công) · OTP · FIFO · transaction toàn vẹn.</a:t>
            </a:r>
          </a:p>
          <a:p>
            <a:pPr marL="228600" indent="-228600">
              <a:lnSpc>
                <a:spcPts val="2100"/>
              </a:lnSpc>
              <a:spcAft>
                <a:spcPts val="700"/>
              </a:spcAft>
              <a:buFont typeface="Arial"/>
              <a:buChar char="•"/>
            </a:pPr>
            <a:r>
              <a:rPr lang="vi-VN" sz="1600" dirty="0">
                <a:solidFill>
                  <a:srgbClr val="33415C"/>
                </a:solidFill>
              </a:rPr>
              <a:t>Nền tảng .NET 8 + React + Supabase — NFR đo lường được, sẵn sàng mở rộng đa chi nhánh.</a:t>
            </a:r>
          </a:p>
        </p:txBody>
      </p:sp>
      <p:sp>
        <p:nvSpPr>
          <p:cNvPr id="63" name="s"/>
          <p:cNvSpPr/>
          <p:nvPr/>
        </p:nvSpPr>
        <p:spPr>
          <a:xfrm>
            <a:off x="838200" y="5232400"/>
            <a:ext cx="10744200" cy="10160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txBody>
          <a:bodyPr lIns="90000" tIns="45000" rIns="90000" bIns="45000" anchor="ctr"/>
          <a:lstStyle/>
          <a:p>
            <a:pPr algn="ctr"/>
            <a:r>
              <a:rPr lang="vi-VN" sz="2400" b="1" dirty="0">
                <a:solidFill>
                  <a:srgbClr val="FFFFFF"/>
                </a:solidFill>
              </a:rPr>
              <a:t>Cảm ơn đã lắng nghe — Hỏi &amp; Đáp (Q&amp;A)</a:t>
            </a:r>
          </a:p>
        </p:txBody>
      </p:sp>
    </p:spTree>
    <p:extLst>
      <p:ext uri="{BB962C8B-B14F-4D97-AF65-F5344CB8AC3E}">
        <p14:creationId xmlns:p14="http://schemas.microsoft.com/office/powerpoint/2010/main" val="9030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84294440470]">
  <a:themeElements>
    <a:clrScheme name="Office">
      <a:dk1>
        <a:srgbClr val="1A2438"/>
      </a:dk1>
      <a:lt1>
        <a:srgbClr val="FFFFFF"/>
      </a:lt1>
      <a:dk2>
        <a:srgbClr val="33415C"/>
      </a:dk2>
      <a:lt2>
        <a:srgbClr val="EEF2F7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6366F1"/>
      </a:accent5>
      <a:accent6>
        <a:srgbClr val="EF4444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 [1784295629244]">
  <a:themeElements>
    <a:clrScheme name="Office">
      <a:dk1>
        <a:srgbClr val="1A2438"/>
      </a:dk1>
      <a:lt1>
        <a:srgbClr val="FFFFFF"/>
      </a:lt1>
      <a:dk2>
        <a:srgbClr val="33415C"/>
      </a:dk2>
      <a:lt2>
        <a:srgbClr val="EEF2F7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6366F1"/>
      </a:accent5>
      <a:accent6>
        <a:srgbClr val="EF4444"/>
      </a:accent6>
      <a:hlink>
        <a:srgbClr val="0563C1"/>
      </a:hlink>
      <a:folHlink>
        <a:srgbClr val="954F72"/>
      </a:folHlink>
    </a:clrScheme>
    <a:fontScheme name="Office">
      <a:majorFont>
        <a:latin typeface="Segoe U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 [1784295641145]">
  <a:themeElements>
    <a:clrScheme name="Office">
      <a:dk1>
        <a:srgbClr val="1A2438"/>
      </a:dk1>
      <a:lt1>
        <a:srgbClr val="FFFFFF"/>
      </a:lt1>
      <a:dk2>
        <a:srgbClr val="33415C"/>
      </a:dk2>
      <a:lt2>
        <a:srgbClr val="EEF2F7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6366F1"/>
      </a:accent5>
      <a:accent6>
        <a:srgbClr val="EF4444"/>
      </a:accent6>
      <a:hlink>
        <a:srgbClr val="0563C1"/>
      </a:hlink>
      <a:folHlink>
        <a:srgbClr val="954F72"/>
      </a:folHlink>
    </a:clrScheme>
    <a:fontScheme name="Office">
      <a:majorFont>
        <a:latin typeface="Segoe U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 [1784295758592]">
  <a:themeElements>
    <a:clrScheme name="Office">
      <a:dk1>
        <a:srgbClr val="1A2438"/>
      </a:dk1>
      <a:lt1>
        <a:srgbClr val="FFFFFF"/>
      </a:lt1>
      <a:dk2>
        <a:srgbClr val="33415C"/>
      </a:dk2>
      <a:lt2>
        <a:srgbClr val="EEF2F7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6366F1"/>
      </a:accent5>
      <a:accent6>
        <a:srgbClr val="EF4444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 [1784295868301]">
  <a:themeElements>
    <a:clrScheme name="Office">
      <a:dk1>
        <a:srgbClr val="1A2438"/>
      </a:dk1>
      <a:lt1>
        <a:srgbClr val="FFFFFF"/>
      </a:lt1>
      <a:dk2>
        <a:srgbClr val="33415C"/>
      </a:dk2>
      <a:lt2>
        <a:srgbClr val="EEF2F7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6366F1"/>
      </a:accent5>
      <a:accent6>
        <a:srgbClr val="EF4444"/>
      </a:accent6>
      <a:hlink>
        <a:srgbClr val="0563C1"/>
      </a:hlink>
      <a:folHlink>
        <a:srgbClr val="954F72"/>
      </a:folHlink>
    </a:clrScheme>
    <a:fontScheme name="Office">
      <a:majorFont>
        <a:latin typeface="Segoe U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8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8D7725-01B2-439F-A611-6D8D565C6D5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c2f6ee4-8c38-48b1-8f8d-24d13164fdf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1317</Words>
  <Application>Microsoft Office PowerPoint</Application>
  <PresentationFormat>Widescreen</PresentationFormat>
  <Paragraphs>223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Calibri</vt:lpstr>
      <vt:lpstr>Calibri Light</vt:lpstr>
      <vt:lpstr>Segoe UI</vt:lpstr>
      <vt:lpstr>Segoe UI Semibold</vt:lpstr>
      <vt:lpstr>Times New Roman</vt:lpstr>
      <vt:lpstr>Office Theme</vt:lpstr>
      <vt:lpstr>Office Theme [1784294440470]</vt:lpstr>
      <vt:lpstr>Office Theme [1784295629244]</vt:lpstr>
      <vt:lpstr>Office Theme [1784295641145]</vt:lpstr>
      <vt:lpstr>Office Theme [1784295758592]</vt:lpstr>
      <vt:lpstr>Office Theme [1784295868301]</vt:lpstr>
      <vt:lpstr>Auto-Wash</vt:lpstr>
      <vt:lpstr>Bối cảnh &amp; Mục đích</vt:lpstr>
      <vt:lpstr>Kiến trúc công nghệ</vt:lpstr>
      <vt:lpstr>Tác nhân &amp; Hệ thống ngoài</vt:lpstr>
      <vt:lpstr>Mô hình dữ liệu — 9 thực thể</vt:lpstr>
      <vt:lpstr>5 phân hệ chức năng — 24 Use Case</vt:lpstr>
      <vt:lpstr>Luồng 1 — Đăng ký &amp; Đặt lịch (Khách hàng)</vt:lpstr>
      <vt:lpstr>Luồng 2 — Hàng chờ tại xưởng (Nhân viên)</vt:lpstr>
      <vt:lpstr>Vòng đời trạng thái</vt:lpstr>
      <vt:lpstr>Ma trận phân quyền (RBAC)</vt:lpstr>
      <vt:lpstr>Quy tắc nghiệp vụ chung (CBR)</vt:lpstr>
      <vt:lpstr>Yêu cầu phi chức năng (NFR)</vt:lpstr>
      <vt:lpstr>Bảo mật &amp; Khả dụng</vt:lpstr>
      <vt:lpstr>Tích hợp &amp; Di trú dữ liệu</vt:lpstr>
      <vt:lpstr>Tổng kết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Thuận Nguyễn</dc:creator>
  <cp:lastModifiedBy>Thuận Nguyễn</cp:lastModifiedBy>
  <cp:revision>8</cp:revision>
  <dcterms:created xsi:type="dcterms:W3CDTF">2026-07-17T12:54:28Z</dcterms:created>
  <dcterms:modified xsi:type="dcterms:W3CDTF">2026-07-17T14:00:59Z</dcterms:modified>
</cp:coreProperties>
</file>