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8" r:id="rId2"/>
    <p:sldId id="319" r:id="rId3"/>
    <p:sldId id="320" r:id="rId4"/>
    <p:sldId id="321" r:id="rId5"/>
    <p:sldId id="316" r:id="rId6"/>
    <p:sldId id="323" r:id="rId7"/>
    <p:sldId id="324" r:id="rId8"/>
    <p:sldId id="326" r:id="rId9"/>
    <p:sldId id="327" r:id="rId10"/>
    <p:sldId id="342" r:id="rId11"/>
    <p:sldId id="336" r:id="rId12"/>
    <p:sldId id="340" r:id="rId13"/>
    <p:sldId id="341" r:id="rId14"/>
    <p:sldId id="34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66" d="100"/>
          <a:sy n="66" d="100"/>
        </p:scale>
        <p:origin x="1374" y="9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5B723-74EB-F590-A08F-4F4641F766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3BF484-2C26-A396-96B6-27F7B5E884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8610E-E6E5-9149-6B1C-5F7151B8E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FEB8-CFA7-440B-BBD2-ED47D84B045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43FEB2-0A2B-9004-70CB-DFDA63F5D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32173F-FCD0-0C63-15BD-03A47DD30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83E51-1C83-4D66-8B16-701AD65F3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879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5DAA2-6281-B25D-388C-4DB6C5DFB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CC889-4502-0278-7D16-CD895E61F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AE286-C4A0-8149-49FB-EBA508A11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FEB8-CFA7-440B-BBD2-ED47D84B045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C2C65-70BD-91C0-714C-71C8AEA6A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BA6D2-4E74-1CCD-332A-ED13B2288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83E51-1C83-4D66-8B16-701AD65F3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384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0DD69-B4DD-B3B6-940E-1D5F88D96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F092C5-F226-625B-A40B-8CE760ABCB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6FE57-6F2B-34CC-2DB0-7A01243E9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FEB8-CFA7-440B-BBD2-ED47D84B045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41AF1C-658B-CBC8-CA36-DD4569172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4445C-DF24-D181-A5F3-DE156BF38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83E51-1C83-4D66-8B16-701AD65F3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974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5D93-CF4F-B59F-A919-B54954F16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9A34E-BBC0-CE55-37C2-BD7186B4CA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505F9C-6717-0E04-4B71-094917C6F9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3FA022-31CD-4BE4-8BD4-FB3E96ADA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FEB8-CFA7-440B-BBD2-ED47D84B045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5896F-5461-0060-E2AC-DC31D352A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42C468-0D87-52CF-DF72-FB9107854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83E51-1C83-4D66-8B16-701AD65F3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75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33E4E-8B42-0877-DFBB-E1AF17107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86E00-F3F7-070F-F320-A6857459CE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F4EC1-C8D3-D03B-870D-C3936D99FB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4A9F35-8351-C5D5-197A-3BFD8B09CD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41345D-7578-EC67-5695-ECAC3D0277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925114-2EC8-9CBF-D8DD-4FF26729B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FEB8-CFA7-440B-BBD2-ED47D84B045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057FE2-0A0E-33C0-BDF6-C15E2B1F8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7DD5B4-3D75-9C5E-22F8-519BB13B4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83E51-1C83-4D66-8B16-701AD65F3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298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62CEE-1756-A194-5F2C-797A93B7A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654F7A-C220-CB01-C7CE-246B56104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FEB8-CFA7-440B-BBD2-ED47D84B045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C46D9A-3E40-AAF4-EA4F-C0E41728E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F31690-6909-1CB6-078A-E5D5504EE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83E51-1C83-4D66-8B16-701AD65F3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057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06400F-18C9-9B39-7665-35AAD0CDD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FEB8-CFA7-440B-BBD2-ED47D84B045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79DCAE-F5D1-5A7A-6BD1-B3B889175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D1105-604D-D765-3BC5-88C50EB9F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83E51-1C83-4D66-8B16-701AD65F3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596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82D63-A995-DE08-D274-EF37130F8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B6B95-5349-0DBF-5BA3-A034CC460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A93374-01C2-9FB9-CBAB-5017AF75AE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6AE74C-0C32-29EE-8889-83EC3BAD0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FEB8-CFA7-440B-BBD2-ED47D84B045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4F96DC-66B2-A015-4429-DB633F458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FCCC19-1610-72EB-064D-4B39B8997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83E51-1C83-4D66-8B16-701AD65F3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488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EF54F-7EEF-4082-5FD8-D187F03E2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5AD2A0-0F55-0632-81BA-6FEC078AA8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7DD8BB-DBB9-487F-155D-6739BB9273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9F042-D1C6-6E11-1819-D5B23A3DA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FEB8-CFA7-440B-BBD2-ED47D84B045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F6F0C0-8B45-99B3-DA2B-16AF939DD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57341-3EDF-094F-A7A7-7E27EE55A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83E51-1C83-4D66-8B16-701AD65F3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5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1D1EE-D74F-6735-0C35-D82C08B22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1F88E7-B67D-8C0F-AEA4-C5B0073F6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9BCA5-D504-8931-5E3C-DDE981070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FEB8-CFA7-440B-BBD2-ED47D84B045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D6BB4-0C63-7DBA-D3F3-8BBF297E9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07CB3D-B871-0BEC-B21A-D558D919C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83E51-1C83-4D66-8B16-701AD65F3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4212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541D1B-6E2C-2E20-94C8-9CB4D603CD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87AD66-E8E1-607C-7286-A4D99109A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CF5B2-E9CA-6B58-8D77-74CAB4771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A2FEB8-CFA7-440B-BBD2-ED47D84B045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48C12-AB83-1C4D-3C9D-6206D6B86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4FBD5-715C-4994-9482-E392FF758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E83E51-1C83-4D66-8B16-701AD65F3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710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F5175E-B1D2-4E17-F7DB-AC520B377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9FC85C-C324-D807-F1AD-67E57F0AC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79B878-0491-6733-6CFD-7F5D0B7CF5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2FEB8-CFA7-440B-BBD2-ED47D84B045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3C58D-3D37-1AB8-51E8-E8A6A8356A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91C1D5-4A56-ACDF-6A1D-9D167F8170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E83E51-1C83-4D66-8B16-701AD65F30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425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7" Type="http://schemas.openxmlformats.org/officeDocument/2006/relationships/image" Target="../media/image26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../diagrams-html/context.html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../diagrams-html/erd.html" TargetMode="Externa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../diagrams-html/usecase.html" TargetMode="Externa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../diagrams-html/state.html" TargetMode="Externa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file:///D:\FPT%20SEMESTER\5.SUMMER2026\SWR302\Auto-Wash-Project\diagrams\diagram%20picture\DataFlow\DataFlowDiagram.drawio.html" TargetMode="Externa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../diagrams-html/dialogmap.html" TargetMode="Externa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../diagrams-html/mockups.html" TargetMode="Externa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6ECBC-415C-90E6-F184-5EE507AC56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vi-VN" sz="6600" dirty="0">
                <a:solidFill>
                  <a:srgbClr val="2563EB"/>
                </a:solidFill>
                <a:cs typeface="Segoe UI"/>
              </a:rPr>
              <a:t>Auto-Wash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ADCAF3-5986-CA68-B870-B99B167543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spcAft>
                <a:spcPts val="600"/>
              </a:spcAft>
            </a:pPr>
            <a:r>
              <a:rPr lang="en-US" sz="2200" b="1" dirty="0">
                <a:solidFill>
                  <a:srgbClr val="1A2438"/>
                </a:solidFill>
              </a:rPr>
              <a:t>Automated Car Wash Center Management System</a:t>
            </a:r>
          </a:p>
          <a:p>
            <a:pPr algn="ctr">
              <a:spcAft>
                <a:spcPts val="400"/>
              </a:spcAft>
            </a:pPr>
            <a:r>
              <a:rPr lang="en-US" sz="1600" dirty="0">
                <a:solidFill>
                  <a:srgbClr val="33415C"/>
                </a:solidFill>
              </a:rPr>
              <a:t>Software Requirements Specification (SRS) - Version 2.9</a:t>
            </a:r>
          </a:p>
          <a:p>
            <a:pPr algn="ctr"/>
            <a:r>
              <a:rPr lang="en-US" sz="1400" dirty="0">
                <a:solidFill>
                  <a:srgbClr val="0EA5E9"/>
                </a:solidFill>
              </a:rPr>
              <a:t>FPT University </a:t>
            </a:r>
            <a:r>
              <a:rPr lang="en-US" sz="1400">
                <a:solidFill>
                  <a:srgbClr val="0EA5E9"/>
                </a:solidFill>
              </a:rPr>
              <a:t>· SWR302</a:t>
            </a:r>
            <a:endParaRPr lang="en-US" sz="1400" dirty="0">
              <a:solidFill>
                <a:srgbClr val="0EA5E9"/>
              </a:solidFill>
            </a:endParaRPr>
          </a:p>
        </p:txBody>
      </p:sp>
      <p:pic>
        <p:nvPicPr>
          <p:cNvPr id="4" name="Graphic 4" descr="Car wash logo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64200" y="254000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76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85C06-6D2C-65C4-9100-558BDB5CC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Segoe UI"/>
                <a:cs typeface="Segoe UI"/>
              </a:rPr>
              <a:t>Background &amp; Purpose</a:t>
            </a:r>
          </a:p>
        </p:txBody>
      </p:sp>
      <p:sp>
        <p:nvSpPr>
          <p:cNvPr id="50" name="card"/>
          <p:cNvSpPr/>
          <p:nvPr/>
        </p:nvSpPr>
        <p:spPr>
          <a:xfrm>
            <a:off x="838200" y="1905000"/>
            <a:ext cx="5245100" cy="20955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h"/>
          <p:cNvSpPr/>
          <p:nvPr/>
        </p:nvSpPr>
        <p:spPr>
          <a:xfrm>
            <a:off x="1752600" y="2159000"/>
            <a:ext cx="41021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800" b="1" dirty="0">
                <a:solidFill>
                  <a:srgbClr val="1A2438"/>
                </a:solidFill>
              </a:rPr>
              <a:t>Problem</a:t>
            </a:r>
          </a:p>
        </p:txBody>
      </p:sp>
      <p:sp>
        <p:nvSpPr>
          <p:cNvPr id="52" name="b"/>
          <p:cNvSpPr/>
          <p:nvPr/>
        </p:nvSpPr>
        <p:spPr>
          <a:xfrm>
            <a:off x="1117600" y="2794000"/>
            <a:ext cx="4686300" cy="1028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900"/>
              </a:lnSpc>
            </a:pPr>
            <a:r>
              <a:rPr lang="en-US" sz="1450" dirty="0">
                <a:solidFill>
                  <a:srgbClr val="33415C"/>
                </a:solidFill>
              </a:rPr>
              <a:t>Digitize automated car wash center operations - from customer bookings to on-site queue management.</a:t>
            </a:r>
          </a:p>
        </p:txBody>
      </p:sp>
      <p:sp>
        <p:nvSpPr>
          <p:cNvPr id="53" name="card"/>
          <p:cNvSpPr/>
          <p:nvPr/>
        </p:nvSpPr>
        <p:spPr>
          <a:xfrm>
            <a:off x="6337300" y="1905000"/>
            <a:ext cx="5245100" cy="20955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4" name="h"/>
          <p:cNvSpPr/>
          <p:nvPr/>
        </p:nvSpPr>
        <p:spPr>
          <a:xfrm>
            <a:off x="7251700" y="2159000"/>
            <a:ext cx="41021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800" b="1" dirty="0">
                <a:solidFill>
                  <a:srgbClr val="1A2438"/>
                </a:solidFill>
              </a:rPr>
              <a:t>SRS Objective</a:t>
            </a:r>
          </a:p>
        </p:txBody>
      </p:sp>
      <p:sp>
        <p:nvSpPr>
          <p:cNvPr id="55" name="b"/>
          <p:cNvSpPr/>
          <p:nvPr/>
        </p:nvSpPr>
        <p:spPr>
          <a:xfrm>
            <a:off x="6616700" y="2794000"/>
            <a:ext cx="4686300" cy="1028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900"/>
              </a:lnSpc>
            </a:pPr>
            <a:r>
              <a:rPr lang="en-US" sz="1450" dirty="0">
                <a:solidFill>
                  <a:srgbClr val="33415C"/>
                </a:solidFill>
              </a:rPr>
              <a:t>Define business scope, align functional &amp; non-functional requirements, and serve as the basis for User Acceptance Testing (UAT).</a:t>
            </a:r>
          </a:p>
        </p:txBody>
      </p:sp>
      <p:sp>
        <p:nvSpPr>
          <p:cNvPr id="56" name="card"/>
          <p:cNvSpPr/>
          <p:nvPr/>
        </p:nvSpPr>
        <p:spPr>
          <a:xfrm>
            <a:off x="838200" y="4254500"/>
            <a:ext cx="5245100" cy="20955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7" name="h"/>
          <p:cNvSpPr/>
          <p:nvPr/>
        </p:nvSpPr>
        <p:spPr>
          <a:xfrm>
            <a:off x="1752600" y="4508500"/>
            <a:ext cx="41021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800" b="1" dirty="0">
                <a:solidFill>
                  <a:srgbClr val="1A2438"/>
                </a:solidFill>
              </a:rPr>
              <a:t>Product</a:t>
            </a:r>
          </a:p>
        </p:txBody>
      </p:sp>
      <p:sp>
        <p:nvSpPr>
          <p:cNvPr id="58" name="b"/>
          <p:cNvSpPr/>
          <p:nvPr/>
        </p:nvSpPr>
        <p:spPr>
          <a:xfrm>
            <a:off x="1117600" y="5143500"/>
            <a:ext cx="4686300" cy="1028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900"/>
              </a:lnSpc>
            </a:pPr>
            <a:r>
              <a:rPr lang="en-US" sz="1450" dirty="0">
                <a:solidFill>
                  <a:srgbClr val="33415C"/>
                </a:solidFill>
              </a:rPr>
              <a:t>Web application - Customers use Mobile Web, Staff use Desktop.</a:t>
            </a:r>
          </a:p>
        </p:txBody>
      </p:sp>
      <p:sp>
        <p:nvSpPr>
          <p:cNvPr id="59" name="card"/>
          <p:cNvSpPr/>
          <p:nvPr/>
        </p:nvSpPr>
        <p:spPr>
          <a:xfrm>
            <a:off x="6337300" y="4254500"/>
            <a:ext cx="5245100" cy="2095500"/>
          </a:xfrm>
          <a:prstGeom prst="roundRect">
            <a:avLst>
              <a:gd name="adj" fmla="val 6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0" name="h"/>
          <p:cNvSpPr/>
          <p:nvPr/>
        </p:nvSpPr>
        <p:spPr>
          <a:xfrm>
            <a:off x="7251700" y="4508500"/>
            <a:ext cx="41021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800" b="1" dirty="0">
                <a:solidFill>
                  <a:srgbClr val="1A2438"/>
                </a:solidFill>
              </a:rPr>
              <a:t>Reference Standard</a:t>
            </a:r>
          </a:p>
        </p:txBody>
      </p:sp>
      <p:sp>
        <p:nvSpPr>
          <p:cNvPr id="61" name="b"/>
          <p:cNvSpPr/>
          <p:nvPr/>
        </p:nvSpPr>
        <p:spPr>
          <a:xfrm>
            <a:off x="6616700" y="5143500"/>
            <a:ext cx="4686300" cy="10287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ts val="1900"/>
              </a:lnSpc>
            </a:pPr>
            <a:r>
              <a:rPr lang="en-US" sz="1450" dirty="0">
                <a:solidFill>
                  <a:srgbClr val="33415C"/>
                </a:solidFill>
              </a:rPr>
              <a:t>Complies with the IEEE 830-1998 SRS documentation standard.</a:t>
            </a:r>
          </a:p>
        </p:txBody>
      </p:sp>
      <p:pic>
        <p:nvPicPr>
          <p:cNvPr id="62" name="Graphic 62" descr="Problem ic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2200" y="2133600"/>
            <a:ext cx="533400" cy="533400"/>
          </a:xfrm>
          <a:prstGeom prst="rect">
            <a:avLst/>
          </a:prstGeom>
        </p:spPr>
      </p:pic>
      <p:pic>
        <p:nvPicPr>
          <p:cNvPr id="63" name="Graphic 63" descr="Goal icon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91300" y="2133600"/>
            <a:ext cx="533400" cy="533400"/>
          </a:xfrm>
          <a:prstGeom prst="rect">
            <a:avLst/>
          </a:prstGeom>
        </p:spPr>
      </p:pic>
      <p:pic>
        <p:nvPicPr>
          <p:cNvPr id="64" name="Graphic 64" descr="Product icon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2200" y="4483100"/>
            <a:ext cx="533400" cy="533400"/>
          </a:xfrm>
          <a:prstGeom prst="rect">
            <a:avLst/>
          </a:prstGeom>
        </p:spPr>
      </p:pic>
      <p:pic>
        <p:nvPicPr>
          <p:cNvPr id="65" name="Graphic 65" descr="Standard icon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91300" y="448310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948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3F25-CF2E-526D-B2FA-DA4016F75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Segoe UI"/>
                <a:cs typeface="Segoe UI"/>
              </a:rPr>
              <a:t>Technology Architecture</a:t>
            </a:r>
          </a:p>
        </p:txBody>
      </p:sp>
      <p:sp>
        <p:nvSpPr>
          <p:cNvPr id="50" name="r"/>
          <p:cNvSpPr/>
          <p:nvPr/>
        </p:nvSpPr>
        <p:spPr>
          <a:xfrm>
            <a:off x="838200" y="1905000"/>
            <a:ext cx="10744200" cy="7366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r"/>
          <p:cNvSpPr/>
          <p:nvPr/>
        </p:nvSpPr>
        <p:spPr>
          <a:xfrm>
            <a:off x="838200" y="1905000"/>
            <a:ext cx="101600" cy="736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t"/>
          <p:cNvSpPr/>
          <p:nvPr/>
        </p:nvSpPr>
        <p:spPr>
          <a:xfrm>
            <a:off x="1854200" y="1905000"/>
            <a:ext cx="2286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vi-VN" sz="1600" b="1" dirty="0">
                <a:solidFill>
                  <a:srgbClr val="2563EB"/>
                </a:solidFill>
              </a:rPr>
              <a:t>Frontend</a:t>
            </a:r>
          </a:p>
        </p:txBody>
      </p:sp>
      <p:sp>
        <p:nvSpPr>
          <p:cNvPr id="53" name="r"/>
          <p:cNvSpPr/>
          <p:nvPr/>
        </p:nvSpPr>
        <p:spPr>
          <a:xfrm>
            <a:off x="4292600" y="2057400"/>
            <a:ext cx="19050" cy="4318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t"/>
          <p:cNvSpPr/>
          <p:nvPr/>
        </p:nvSpPr>
        <p:spPr>
          <a:xfrm>
            <a:off x="4546600" y="1905000"/>
            <a:ext cx="6731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en-US" sz="1500" b="0" dirty="0">
                <a:solidFill>
                  <a:srgbClr val="33415C"/>
                </a:solidFill>
              </a:rPr>
              <a:t>React 18 + Vite - SPA, optimized for mobile</a:t>
            </a:r>
          </a:p>
        </p:txBody>
      </p:sp>
      <p:sp>
        <p:nvSpPr>
          <p:cNvPr id="55" name="r"/>
          <p:cNvSpPr/>
          <p:nvPr/>
        </p:nvSpPr>
        <p:spPr>
          <a:xfrm>
            <a:off x="838200" y="2819400"/>
            <a:ext cx="10744200" cy="7366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6" name="r"/>
          <p:cNvSpPr/>
          <p:nvPr/>
        </p:nvSpPr>
        <p:spPr>
          <a:xfrm>
            <a:off x="838200" y="2819400"/>
            <a:ext cx="101600" cy="736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7" name="t"/>
          <p:cNvSpPr/>
          <p:nvPr/>
        </p:nvSpPr>
        <p:spPr>
          <a:xfrm>
            <a:off x="1854200" y="2819400"/>
            <a:ext cx="2286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vi-VN" sz="1600" b="1" dirty="0">
                <a:solidFill>
                  <a:srgbClr val="1D4ED8"/>
                </a:solidFill>
              </a:rPr>
              <a:t>Backend</a:t>
            </a:r>
          </a:p>
        </p:txBody>
      </p:sp>
      <p:sp>
        <p:nvSpPr>
          <p:cNvPr id="58" name="r"/>
          <p:cNvSpPr/>
          <p:nvPr/>
        </p:nvSpPr>
        <p:spPr>
          <a:xfrm>
            <a:off x="4292600" y="2971800"/>
            <a:ext cx="19050" cy="4318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9" name="t"/>
          <p:cNvSpPr/>
          <p:nvPr/>
        </p:nvSpPr>
        <p:spPr>
          <a:xfrm>
            <a:off x="4546600" y="2819400"/>
            <a:ext cx="6731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vi-VN" sz="1500" b="0" dirty="0">
                <a:solidFill>
                  <a:srgbClr val="33415C"/>
                </a:solidFill>
              </a:rPr>
              <a:t>ASP.NET Core 8 · Entity Framework Core (Npgsql)</a:t>
            </a:r>
          </a:p>
        </p:txBody>
      </p:sp>
      <p:sp>
        <p:nvSpPr>
          <p:cNvPr id="60" name="r"/>
          <p:cNvSpPr/>
          <p:nvPr/>
        </p:nvSpPr>
        <p:spPr>
          <a:xfrm>
            <a:off x="838200" y="3733800"/>
            <a:ext cx="10744200" cy="7366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r"/>
          <p:cNvSpPr/>
          <p:nvPr/>
        </p:nvSpPr>
        <p:spPr>
          <a:xfrm>
            <a:off x="838200" y="3733800"/>
            <a:ext cx="101600" cy="7366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2" name="t"/>
          <p:cNvSpPr/>
          <p:nvPr/>
        </p:nvSpPr>
        <p:spPr>
          <a:xfrm>
            <a:off x="1854200" y="3733800"/>
            <a:ext cx="2286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en-US" sz="1600" b="1" dirty="0">
                <a:solidFill>
                  <a:srgbClr val="0EA5E9"/>
                </a:solidFill>
              </a:rPr>
              <a:t>Database</a:t>
            </a:r>
          </a:p>
        </p:txBody>
      </p:sp>
      <p:sp>
        <p:nvSpPr>
          <p:cNvPr id="63" name="r"/>
          <p:cNvSpPr/>
          <p:nvPr/>
        </p:nvSpPr>
        <p:spPr>
          <a:xfrm>
            <a:off x="4292600" y="3886200"/>
            <a:ext cx="19050" cy="4318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4" name="t"/>
          <p:cNvSpPr/>
          <p:nvPr/>
        </p:nvSpPr>
        <p:spPr>
          <a:xfrm>
            <a:off x="4546600" y="3733800"/>
            <a:ext cx="6731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en-US" sz="1500" b="0" dirty="0">
                <a:solidFill>
                  <a:srgbClr val="33415C"/>
                </a:solidFill>
              </a:rPr>
              <a:t>PostgreSQL via Supabase - SSL required</a:t>
            </a:r>
          </a:p>
        </p:txBody>
      </p:sp>
      <p:sp>
        <p:nvSpPr>
          <p:cNvPr id="65" name="r"/>
          <p:cNvSpPr/>
          <p:nvPr/>
        </p:nvSpPr>
        <p:spPr>
          <a:xfrm>
            <a:off x="838200" y="4648200"/>
            <a:ext cx="10744200" cy="7366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6" name="r"/>
          <p:cNvSpPr/>
          <p:nvPr/>
        </p:nvSpPr>
        <p:spPr>
          <a:xfrm>
            <a:off x="838200" y="4648200"/>
            <a:ext cx="101600" cy="7366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t"/>
          <p:cNvSpPr/>
          <p:nvPr/>
        </p:nvSpPr>
        <p:spPr>
          <a:xfrm>
            <a:off x="1854200" y="4648200"/>
            <a:ext cx="2286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en-US" sz="1600" b="1" dirty="0">
                <a:solidFill>
                  <a:srgbClr val="6366F1"/>
                </a:solidFill>
              </a:rPr>
              <a:t>Communication</a:t>
            </a:r>
          </a:p>
        </p:txBody>
      </p:sp>
      <p:sp>
        <p:nvSpPr>
          <p:cNvPr id="68" name="r"/>
          <p:cNvSpPr/>
          <p:nvPr/>
        </p:nvSpPr>
        <p:spPr>
          <a:xfrm>
            <a:off x="4292600" y="4800600"/>
            <a:ext cx="19050" cy="4318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t"/>
          <p:cNvSpPr/>
          <p:nvPr/>
        </p:nvSpPr>
        <p:spPr>
          <a:xfrm>
            <a:off x="4546600" y="4648200"/>
            <a:ext cx="6731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vi-VN" sz="1500" b="0" dirty="0">
                <a:solidFill>
                  <a:srgbClr val="33415C"/>
                </a:solidFill>
              </a:rPr>
              <a:t>JSON REST API</a:t>
            </a:r>
          </a:p>
        </p:txBody>
      </p:sp>
      <p:sp>
        <p:nvSpPr>
          <p:cNvPr id="70" name="r"/>
          <p:cNvSpPr/>
          <p:nvPr/>
        </p:nvSpPr>
        <p:spPr>
          <a:xfrm>
            <a:off x="838200" y="5562600"/>
            <a:ext cx="10744200" cy="736600"/>
          </a:xfrm>
          <a:prstGeom prst="roundRect">
            <a:avLst>
              <a:gd name="adj" fmla="val 8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1" name="r"/>
          <p:cNvSpPr/>
          <p:nvPr/>
        </p:nvSpPr>
        <p:spPr>
          <a:xfrm>
            <a:off x="838200" y="5562600"/>
            <a:ext cx="101600" cy="736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2" name="t"/>
          <p:cNvSpPr/>
          <p:nvPr/>
        </p:nvSpPr>
        <p:spPr>
          <a:xfrm>
            <a:off x="1854200" y="5562600"/>
            <a:ext cx="2286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en-US" sz="1600" b="1" dirty="0">
                <a:solidFill>
                  <a:srgbClr val="10B981"/>
                </a:solidFill>
              </a:rPr>
              <a:t>Session</a:t>
            </a:r>
          </a:p>
        </p:txBody>
      </p:sp>
      <p:sp>
        <p:nvSpPr>
          <p:cNvPr id="73" name="r"/>
          <p:cNvSpPr/>
          <p:nvPr/>
        </p:nvSpPr>
        <p:spPr>
          <a:xfrm>
            <a:off x="4292600" y="5715000"/>
            <a:ext cx="19050" cy="431800"/>
          </a:xfrm>
          <a:prstGeom prst="rect">
            <a:avLst/>
          </a:prstGeom>
          <a:solidFill>
            <a:srgbClr val="DCE6F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4" name="t"/>
          <p:cNvSpPr/>
          <p:nvPr/>
        </p:nvSpPr>
        <p:spPr>
          <a:xfrm>
            <a:off x="4546600" y="5562600"/>
            <a:ext cx="67310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en-US" sz="1500" b="0" dirty="0">
                <a:solidFill>
                  <a:srgbClr val="33415C"/>
                </a:solidFill>
              </a:rPr>
              <a:t>Server-side session - stateless, load-balancing ready</a:t>
            </a:r>
          </a:p>
        </p:txBody>
      </p:sp>
      <p:pic>
        <p:nvPicPr>
          <p:cNvPr id="75" name="Graphic 75" descr="Frontend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057400"/>
            <a:ext cx="431800" cy="431800"/>
          </a:xfrm>
          <a:prstGeom prst="rect">
            <a:avLst/>
          </a:prstGeom>
        </p:spPr>
      </p:pic>
      <p:pic>
        <p:nvPicPr>
          <p:cNvPr id="76" name="Graphic 76" descr="Backend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43000" y="2971800"/>
            <a:ext cx="431800" cy="431800"/>
          </a:xfrm>
          <a:prstGeom prst="rect">
            <a:avLst/>
          </a:prstGeom>
        </p:spPr>
      </p:pic>
      <p:pic>
        <p:nvPicPr>
          <p:cNvPr id="77" name="Graphic 77" descr="Database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43000" y="3886200"/>
            <a:ext cx="431800" cy="431800"/>
          </a:xfrm>
          <a:prstGeom prst="rect">
            <a:avLst/>
          </a:prstGeom>
        </p:spPr>
      </p:pic>
      <p:pic>
        <p:nvPicPr>
          <p:cNvPr id="78" name="Graphic 78" descr="API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3000" y="4800600"/>
            <a:ext cx="431800" cy="431800"/>
          </a:xfrm>
          <a:prstGeom prst="rect">
            <a:avLst/>
          </a:prstGeom>
        </p:spPr>
      </p:pic>
      <p:pic>
        <p:nvPicPr>
          <p:cNvPr id="79" name="Graphic 79" descr="Session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3000" y="5715000"/>
            <a:ext cx="431800" cy="43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719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61A9A-AC3E-0D4B-649B-4D4B68A10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Segoe UI"/>
                <a:cs typeface="Segoe UI"/>
              </a:rPr>
              <a:t>Actors &amp; External Systems</a:t>
            </a:r>
          </a:p>
        </p:txBody>
      </p:sp>
      <p:sp>
        <p:nvSpPr>
          <p:cNvPr id="50" name="s"/>
          <p:cNvSpPr/>
          <p:nvPr/>
        </p:nvSpPr>
        <p:spPr>
          <a:xfrm>
            <a:off x="838200" y="1905000"/>
            <a:ext cx="3429000" cy="3175000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1" name="s"/>
          <p:cNvSpPr/>
          <p:nvPr/>
        </p:nvSpPr>
        <p:spPr>
          <a:xfrm>
            <a:off x="2209800" y="2159000"/>
            <a:ext cx="685800" cy="6858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t"/>
          <p:cNvSpPr/>
          <p:nvPr/>
        </p:nvSpPr>
        <p:spPr>
          <a:xfrm>
            <a:off x="965200" y="2946400"/>
            <a:ext cx="3175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700" b="1" dirty="0">
                <a:solidFill>
                  <a:srgbClr val="2563EB"/>
                </a:solidFill>
              </a:rPr>
              <a:t>Staff</a:t>
            </a:r>
          </a:p>
        </p:txBody>
      </p:sp>
      <p:sp>
        <p:nvSpPr>
          <p:cNvPr id="53" name="t"/>
          <p:cNvSpPr/>
          <p:nvPr/>
        </p:nvSpPr>
        <p:spPr>
          <a:xfrm>
            <a:off x="1117600" y="3429000"/>
            <a:ext cx="2921000" cy="149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lnSpc>
                <a:spcPts val="1650"/>
              </a:lnSpc>
              <a:spcAft>
                <a:spcPts val="500"/>
              </a:spcAft>
              <a:buFont typeface="Arial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Vehicle check-in / check-out</a:t>
            </a:r>
          </a:p>
          <a:p>
            <a:pPr marL="171450" indent="-171450">
              <a:lnSpc>
                <a:spcPts val="1650"/>
              </a:lnSpc>
              <a:spcAft>
                <a:spcPts val="500"/>
              </a:spcAft>
              <a:buFont typeface="Arial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Scan license plate, manage queue</a:t>
            </a:r>
          </a:p>
          <a:p>
            <a:pPr marL="171450" indent="-171450">
              <a:lnSpc>
                <a:spcPts val="1650"/>
              </a:lnSpc>
              <a:spcAft>
                <a:spcPts val="500"/>
              </a:spcAft>
              <a:buFont typeface="Arial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Confirm / cancel bookings</a:t>
            </a:r>
          </a:p>
          <a:p>
            <a:pPr marL="171450" indent="-171450">
              <a:lnSpc>
                <a:spcPts val="1650"/>
              </a:lnSpc>
              <a:spcAft>
                <a:spcPts val="500"/>
              </a:spcAft>
              <a:buFont typeface="Arial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Manage accounts &amp; services</a:t>
            </a:r>
          </a:p>
        </p:txBody>
      </p:sp>
      <p:sp>
        <p:nvSpPr>
          <p:cNvPr id="54" name="s"/>
          <p:cNvSpPr/>
          <p:nvPr/>
        </p:nvSpPr>
        <p:spPr>
          <a:xfrm>
            <a:off x="4495800" y="1905000"/>
            <a:ext cx="3429000" cy="3175000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5" name="s"/>
          <p:cNvSpPr/>
          <p:nvPr/>
        </p:nvSpPr>
        <p:spPr>
          <a:xfrm>
            <a:off x="5867400" y="2159000"/>
            <a:ext cx="685800" cy="6858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t"/>
          <p:cNvSpPr/>
          <p:nvPr/>
        </p:nvSpPr>
        <p:spPr>
          <a:xfrm>
            <a:off x="4622800" y="2946400"/>
            <a:ext cx="3175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700" b="1" dirty="0">
                <a:solidFill>
                  <a:srgbClr val="0EA5E9"/>
                </a:solidFill>
              </a:rPr>
              <a:t>Customer</a:t>
            </a:r>
          </a:p>
        </p:txBody>
      </p:sp>
      <p:sp>
        <p:nvSpPr>
          <p:cNvPr id="57" name="t"/>
          <p:cNvSpPr/>
          <p:nvPr/>
        </p:nvSpPr>
        <p:spPr>
          <a:xfrm>
            <a:off x="4775200" y="3429000"/>
            <a:ext cx="2921000" cy="149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lnSpc>
                <a:spcPts val="1650"/>
              </a:lnSpc>
              <a:spcAft>
                <a:spcPts val="500"/>
              </a:spcAft>
              <a:buFont typeface="Arial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Register, manage personal vehicles</a:t>
            </a:r>
          </a:p>
          <a:p>
            <a:pPr marL="171450" indent="-171450">
              <a:lnSpc>
                <a:spcPts val="1650"/>
              </a:lnSpc>
              <a:spcAft>
                <a:spcPts val="500"/>
              </a:spcAft>
              <a:buFont typeface="Arial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Create &amp; track bookings (Mobile Web)</a:t>
            </a:r>
          </a:p>
          <a:p>
            <a:pPr marL="171450" indent="-171450">
              <a:lnSpc>
                <a:spcPts val="1650"/>
              </a:lnSpc>
              <a:spcAft>
                <a:spcPts val="500"/>
              </a:spcAft>
              <a:buFont typeface="Arial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Receive email notifications</a:t>
            </a:r>
          </a:p>
        </p:txBody>
      </p:sp>
      <p:sp>
        <p:nvSpPr>
          <p:cNvPr id="58" name="s"/>
          <p:cNvSpPr/>
          <p:nvPr/>
        </p:nvSpPr>
        <p:spPr>
          <a:xfrm>
            <a:off x="8153400" y="1905000"/>
            <a:ext cx="3429000" cy="3175000"/>
          </a:xfrm>
          <a:prstGeom prst="roundRect">
            <a:avLst>
              <a:gd name="adj" fmla="val 7000"/>
            </a:avLst>
          </a:prstGeom>
          <a:solidFill>
            <a:srgbClr val="F4F7FC"/>
          </a:solidFill>
          <a:ln w="12700">
            <a:solidFill>
              <a:srgbClr val="DCE6F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59" name="s"/>
          <p:cNvSpPr/>
          <p:nvPr/>
        </p:nvSpPr>
        <p:spPr>
          <a:xfrm>
            <a:off x="9525000" y="2159000"/>
            <a:ext cx="685800" cy="6858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t"/>
          <p:cNvSpPr/>
          <p:nvPr/>
        </p:nvSpPr>
        <p:spPr>
          <a:xfrm>
            <a:off x="8280400" y="2946400"/>
            <a:ext cx="3175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700" b="1" dirty="0">
                <a:solidFill>
                  <a:srgbClr val="6366F1"/>
                </a:solidFill>
              </a:rPr>
              <a:t>System</a:t>
            </a:r>
          </a:p>
        </p:txBody>
      </p:sp>
      <p:sp>
        <p:nvSpPr>
          <p:cNvPr id="61" name="t"/>
          <p:cNvSpPr/>
          <p:nvPr/>
        </p:nvSpPr>
        <p:spPr>
          <a:xfrm>
            <a:off x="8432800" y="3429000"/>
            <a:ext cx="2921000" cy="149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lnSpc>
                <a:spcPts val="1650"/>
              </a:lnSpc>
              <a:spcAft>
                <a:spcPts val="500"/>
              </a:spcAft>
              <a:buFont typeface="Arial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Automatically send OTP / confirmation / completion emails</a:t>
            </a:r>
          </a:p>
          <a:p>
            <a:pPr marL="171450" indent="-171450">
              <a:lnSpc>
                <a:spcPts val="1650"/>
              </a:lnSpc>
              <a:spcAft>
                <a:spcPts val="500"/>
              </a:spcAft>
              <a:buFont typeface="Arial"/>
              <a:buChar char="•"/>
            </a:pPr>
            <a:r>
              <a:rPr lang="en-US" sz="1350" dirty="0">
                <a:solidFill>
                  <a:srgbClr val="33415C"/>
                </a:solidFill>
              </a:rPr>
              <a:t>Receive license plate recognition (LPR) results</a:t>
            </a:r>
          </a:p>
        </p:txBody>
      </p:sp>
      <p:sp>
        <p:nvSpPr>
          <p:cNvPr id="62" name="s"/>
          <p:cNvSpPr/>
          <p:nvPr/>
        </p:nvSpPr>
        <p:spPr>
          <a:xfrm>
            <a:off x="838200" y="5384800"/>
            <a:ext cx="10744200" cy="863600"/>
          </a:xfrm>
          <a:prstGeom prst="roundRect">
            <a:avLst>
              <a:gd name="adj" fmla="val 7000"/>
            </a:avLst>
          </a:prstGeom>
          <a:solidFill>
            <a:srgbClr val="1A243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t"/>
          <p:cNvSpPr/>
          <p:nvPr/>
        </p:nvSpPr>
        <p:spPr>
          <a:xfrm>
            <a:off x="1168400" y="5384800"/>
            <a:ext cx="2413000" cy="863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550" b="1" dirty="0">
                <a:solidFill>
                  <a:srgbClr val="0EA5E9"/>
                </a:solidFill>
              </a:rPr>
              <a:t>External Systems</a:t>
            </a:r>
          </a:p>
        </p:txBody>
      </p:sp>
      <p:sp>
        <p:nvSpPr>
          <p:cNvPr id="64" name="t"/>
          <p:cNvSpPr/>
          <p:nvPr/>
        </p:nvSpPr>
        <p:spPr>
          <a:xfrm>
            <a:off x="3759200" y="5384800"/>
            <a:ext cx="7493000" cy="863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ts val="1800"/>
              </a:lnSpc>
            </a:pPr>
            <a:r>
              <a:rPr lang="vi-VN" sz="1400" dirty="0">
                <a:solidFill>
                  <a:srgbClr val="FFFFFF"/>
                </a:solidFill>
              </a:rPr>
              <a:t>Email SMTP (Gmail / MailKit)  ·  Camera LPR  ·  3rd-party LPR API</a:t>
            </a:r>
          </a:p>
        </p:txBody>
      </p:sp>
      <p:pic>
        <p:nvPicPr>
          <p:cNvPr id="65" name="Graphic 65" descr="Staff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62200" y="2311400"/>
            <a:ext cx="381000" cy="381000"/>
          </a:xfrm>
          <a:prstGeom prst="rect">
            <a:avLst/>
          </a:prstGeom>
        </p:spPr>
      </p:pic>
      <p:pic>
        <p:nvPicPr>
          <p:cNvPr id="66" name="Graphic 66" descr="Customer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9800" y="2311400"/>
            <a:ext cx="381000" cy="381000"/>
          </a:xfrm>
          <a:prstGeom prst="rect">
            <a:avLst/>
          </a:prstGeom>
        </p:spPr>
      </p:pic>
      <p:pic>
        <p:nvPicPr>
          <p:cNvPr id="67" name="Graphic 67" descr="System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77400" y="23114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809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996C2-7347-3389-C45B-466EC4AFF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D9696-A68C-DA40-9AA2-FB3898E7F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743200" cy="656851"/>
          </a:xfrm>
        </p:spPr>
        <p:txBody>
          <a:bodyPr>
            <a:normAutofit/>
          </a:bodyPr>
          <a:lstStyle/>
          <a:p>
            <a:r>
              <a:rPr lang="en-US" sz="2000" b="1">
                <a:latin typeface="Segoe UI"/>
                <a:cs typeface="Segoe UI"/>
              </a:rPr>
              <a:t>Context Diagram</a:t>
            </a:r>
            <a:endParaRPr lang="vi-VN" sz="2000" b="1">
              <a:latin typeface="Segoe UI"/>
              <a:cs typeface="Segoe UI"/>
            </a:endParaRPr>
          </a:p>
        </p:txBody>
      </p:sp>
      <p:pic>
        <p:nvPicPr>
          <p:cNvPr id="4" name="Picture 3">
            <a:hlinkClick r:id="rId2" action="ppaction://hlinkfile"/>
            <a:extLst>
              <a:ext uri="{FF2B5EF4-FFF2-40B4-BE49-F238E27FC236}">
                <a16:creationId xmlns:a16="http://schemas.microsoft.com/office/drawing/2014/main" id="{6F96F1BC-4F32-8F86-40D4-61C6416AB9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098176"/>
            <a:ext cx="10325100" cy="526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951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60B04-8B1F-B7DA-6029-B433565DD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Segoe UI"/>
                <a:cs typeface="Segoe UI"/>
              </a:rPr>
              <a:t>ERD - 9 Entities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E063163-106E-4943-A938-2269CD3E655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905000"/>
          <a:ext cx="10744200" cy="408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>
                  <a:extLst>
                    <a:ext uri="{9D8B030D-6E8A-4147-A177-3AD203B41FA5}">
                      <a16:colId xmlns:a16="http://schemas.microsoft.com/office/drawing/2014/main" val="277448395"/>
                    </a:ext>
                  </a:extLst>
                </a:gridCol>
                <a:gridCol w="8204200">
                  <a:extLst>
                    <a:ext uri="{9D8B030D-6E8A-4147-A177-3AD203B41FA5}">
                      <a16:colId xmlns:a16="http://schemas.microsoft.com/office/drawing/2014/main" val="4251512527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vi-VN" sz="15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Entity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5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Role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058085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Account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Identity, email/phone, PasswordHash, Role (1=Staff, 2=Customer)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77315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Customer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Customer profile + statistics (TotalVisits, TotalSpend)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346183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Vehicle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Customer's vehicle - normalized LicensePlate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45993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Booking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Booking (ScheduledAt, Status 1–5, price)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06245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BookingService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Junction table Booking ↔ Service (PriceSnapshot)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24871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Service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Service catalog (Category 1–4, price, duration)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9429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Queue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On-site queue (Position, timestamps)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10762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Notification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In-app notification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929740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1A2438"/>
                          </a:solidFill>
                          <a:latin typeface="Segoe UI"/>
                          <a:cs typeface="Segoe UI"/>
                        </a:rPr>
                        <a:t>OtpVerification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 b="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Temporary OTP code (no foreign key)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66126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9677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1DA26-3E31-10F0-9EA7-8FD9ACA7E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5893159-05B6-0DF9-30FD-F8EBCAE74BAC}"/>
              </a:ext>
            </a:extLst>
          </p:cNvPr>
          <p:cNvSpPr txBox="1">
            <a:spLocks/>
          </p:cNvSpPr>
          <p:nvPr/>
        </p:nvSpPr>
        <p:spPr>
          <a:xfrm>
            <a:off x="838199" y="365125"/>
            <a:ext cx="7172325" cy="6568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>
                <a:latin typeface="Segoe UI"/>
                <a:cs typeface="Segoe UI"/>
              </a:rPr>
              <a:t>ERD- 9 Entities</a:t>
            </a:r>
          </a:p>
        </p:txBody>
      </p:sp>
      <p:pic>
        <p:nvPicPr>
          <p:cNvPr id="8" name="Picture 7">
            <a:hlinkClick r:id="rId2" action="ppaction://hlinkfile"/>
            <a:extLst>
              <a:ext uri="{FF2B5EF4-FFF2-40B4-BE49-F238E27FC236}">
                <a16:creationId xmlns:a16="http://schemas.microsoft.com/office/drawing/2014/main" id="{9C94D488-0768-0F9F-8E9C-7BBAAF5F83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9332" y="1021976"/>
            <a:ext cx="6776093" cy="502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897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B5591-32B3-8165-4A50-CA87BB753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Segoe UI"/>
                <a:cs typeface="Segoe UI"/>
                <a:hlinkClick r:id="rId2" action="ppaction://hlinkfile"/>
              </a:rPr>
              <a:t>5 Functional Modules - 24 Use Cases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B36CE5-18F9-45CA-8F5C-46765F44DD54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905000"/>
          <a:ext cx="10744200" cy="348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800">
                  <a:extLst>
                    <a:ext uri="{9D8B030D-6E8A-4147-A177-3AD203B41FA5}">
                      <a16:colId xmlns:a16="http://schemas.microsoft.com/office/drawing/2014/main" val="3812575738"/>
                    </a:ext>
                  </a:extLst>
                </a:gridCol>
                <a:gridCol w="8026400">
                  <a:extLst>
                    <a:ext uri="{9D8B030D-6E8A-4147-A177-3AD203B41FA5}">
                      <a16:colId xmlns:a16="http://schemas.microsoft.com/office/drawing/2014/main" val="350085642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vi-VN" sz="15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Module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5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Use Case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50246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General</a:t>
                      </a:r>
                    </a:p>
                  </a:txBody>
                  <a:tcPr anchor="ctr"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UC1 Login · UC2 Logout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09128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Account Management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UC3 Register · UC4 Update profile · UC5 Change password · UC6 Manage user accounts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09334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Vehicle Management</a:t>
                      </a:r>
                    </a:p>
                  </a:txBody>
                  <a:tcPr anchor="ctr">
                    <a:solidFill>
                      <a:srgbClr val="0EA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UC7 View vehicles · UC8 Register vehicle · UC9 Delete vehicle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4972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Services &amp; Booking</a:t>
                      </a:r>
                    </a:p>
                  </a:txBody>
                  <a:tcPr anchor="ctr"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UC10 View services · UC11 Manage services · UC12 Create booking · UC13 View bookings · UC14 Confirm · UC15 Cancel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41052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Queue</a:t>
                      </a:r>
                    </a:p>
                  </a:txBody>
                  <a:tcPr anchor="ctr"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UC16–UC22 · Check-in, LPR, status transition, update, check-out, cancel turn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8131869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vi-VN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Notifications</a:t>
                      </a:r>
                    </a:p>
                  </a:txBody>
                  <a:tcPr anchor="ctr"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vi-VN" sz="1400">
                          <a:solidFill>
                            <a:srgbClr val="33415C"/>
                          </a:solidFill>
                          <a:latin typeface="Segoe UI"/>
                          <a:cs typeface="Segoe UI"/>
                        </a:rPr>
                        <a:t>UC23 View · UC24 Mark as read</a:t>
                      </a:r>
                    </a:p>
                  </a:txBody>
                  <a:tcPr anchor="ctr">
                    <a:solidFill>
                      <a:srgbClr val="F4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51221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32240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EDA4-E630-1400-4981-48C6BD797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314700" cy="422275"/>
          </a:xfrm>
        </p:spPr>
        <p:txBody>
          <a:bodyPr>
            <a:normAutofit/>
          </a:bodyPr>
          <a:lstStyle/>
          <a:p>
            <a:r>
              <a:rPr lang="en-US" sz="2000" b="1">
                <a:latin typeface="Segoe UI"/>
                <a:cs typeface="Segoe UI"/>
              </a:rPr>
              <a:t>State transition diagrama</a:t>
            </a:r>
          </a:p>
        </p:txBody>
      </p:sp>
      <p:pic>
        <p:nvPicPr>
          <p:cNvPr id="4" name="Picture 3">
            <a:hlinkClick r:id="rId2" action="ppaction://hlinkfile"/>
            <a:extLst>
              <a:ext uri="{FF2B5EF4-FFF2-40B4-BE49-F238E27FC236}">
                <a16:creationId xmlns:a16="http://schemas.microsoft.com/office/drawing/2014/main" id="{F081784E-A861-6F55-E5A7-7FB44BFB2B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250" y="943419"/>
            <a:ext cx="9372900" cy="554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225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9F2F1-08FF-94AD-D568-1A280D6B5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7A949-7F2B-A07E-E1B4-B827FF494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314700" cy="422275"/>
          </a:xfrm>
        </p:spPr>
        <p:txBody>
          <a:bodyPr>
            <a:normAutofit/>
          </a:bodyPr>
          <a:lstStyle/>
          <a:p>
            <a:r>
              <a:rPr lang="en-US" sz="2000" b="1">
                <a:latin typeface="Segoe UI"/>
                <a:cs typeface="Segoe UI"/>
              </a:rPr>
              <a:t>Data flow diagrama</a:t>
            </a:r>
          </a:p>
        </p:txBody>
      </p:sp>
      <p:pic>
        <p:nvPicPr>
          <p:cNvPr id="4" name="Picture 3">
            <a:hlinkClick r:id="rId2" action="ppaction://hlinkfile"/>
            <a:extLst>
              <a:ext uri="{FF2B5EF4-FFF2-40B4-BE49-F238E27FC236}">
                <a16:creationId xmlns:a16="http://schemas.microsoft.com/office/drawing/2014/main" id="{B58C746F-4CC2-2E86-5EDD-06DB548E9E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235" y="1101724"/>
            <a:ext cx="11103530" cy="518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248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2B8C8-EB3D-CC14-4155-7179E9AFC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Segoe UI"/>
                <a:cs typeface="Segoe UI"/>
              </a:rPr>
              <a:t>Non-Functional Requirements (NFR)</a:t>
            </a:r>
          </a:p>
        </p:txBody>
      </p:sp>
      <p:sp>
        <p:nvSpPr>
          <p:cNvPr id="100" name="rowbg0"/>
          <p:cNvSpPr/>
          <p:nvPr/>
        </p:nvSpPr>
        <p:spPr>
          <a:xfrm>
            <a:off x="838200" y="1841500"/>
            <a:ext cx="10744200" cy="812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bar0"/>
          <p:cNvSpPr/>
          <p:nvPr/>
        </p:nvSpPr>
        <p:spPr>
          <a:xfrm>
            <a:off x="838200" y="1841500"/>
            <a:ext cx="76200" cy="812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label0"/>
          <p:cNvSpPr txBox="1"/>
          <p:nvPr/>
        </p:nvSpPr>
        <p:spPr>
          <a:xfrm>
            <a:off x="1066800" y="1841500"/>
            <a:ext cx="2209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ts val="1500"/>
              </a:lnSpc>
            </a:pPr>
            <a:r>
              <a:rPr lang="en-US" sz="1450" b="1" dirty="0">
                <a:solidFill>
                  <a:srgbClr val="2563EB"/>
                </a:solidFill>
              </a:rPr>
              <a:t>Performance</a:t>
            </a:r>
          </a:p>
        </p:txBody>
      </p:sp>
      <p:sp>
        <p:nvSpPr>
          <p:cNvPr id="103" name="div0"/>
          <p:cNvSpPr/>
          <p:nvPr/>
        </p:nvSpPr>
        <p:spPr>
          <a:xfrm>
            <a:off x="3403600" y="1993900"/>
            <a:ext cx="19050" cy="508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4" name="desc0"/>
          <p:cNvSpPr txBox="1"/>
          <p:nvPr/>
        </p:nvSpPr>
        <p:spPr>
          <a:xfrm>
            <a:off x="3657600" y="1841500"/>
            <a:ext cx="7797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ts val="1400"/>
              </a:lnSpc>
            </a:pPr>
            <a:r>
              <a:rPr lang="en-US" sz="1300" dirty="0">
                <a:solidFill>
                  <a:srgbClr val="33415C"/>
                </a:solidFill>
              </a:rPr>
              <a:t>API response &lt; 2s (P95) · Booking creation &lt; 3s · OTP email &lt; 60s · LPR result &lt; 5s · 50 concurrent sessions</a:t>
            </a:r>
          </a:p>
        </p:txBody>
      </p:sp>
      <p:sp>
        <p:nvSpPr>
          <p:cNvPr id="105" name="rowbg1"/>
          <p:cNvSpPr/>
          <p:nvPr/>
        </p:nvSpPr>
        <p:spPr>
          <a:xfrm>
            <a:off x="838200" y="2730500"/>
            <a:ext cx="10744200" cy="812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bar1"/>
          <p:cNvSpPr/>
          <p:nvPr/>
        </p:nvSpPr>
        <p:spPr>
          <a:xfrm>
            <a:off x="838200" y="2730500"/>
            <a:ext cx="76200" cy="812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7" name="label1"/>
          <p:cNvSpPr txBox="1"/>
          <p:nvPr/>
        </p:nvSpPr>
        <p:spPr>
          <a:xfrm>
            <a:off x="1066800" y="2730500"/>
            <a:ext cx="2209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ts val="1500"/>
              </a:lnSpc>
            </a:pPr>
            <a:r>
              <a:rPr lang="en-US" sz="1450" b="1" dirty="0">
                <a:solidFill>
                  <a:srgbClr val="DC2626"/>
                </a:solidFill>
              </a:rPr>
              <a:t>Security</a:t>
            </a:r>
          </a:p>
        </p:txBody>
      </p:sp>
      <p:sp>
        <p:nvSpPr>
          <p:cNvPr id="108" name="div1"/>
          <p:cNvSpPr/>
          <p:nvPr/>
        </p:nvSpPr>
        <p:spPr>
          <a:xfrm>
            <a:off x="3403600" y="2882900"/>
            <a:ext cx="19050" cy="508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desc1"/>
          <p:cNvSpPr txBox="1"/>
          <p:nvPr/>
        </p:nvSpPr>
        <p:spPr>
          <a:xfrm>
            <a:off x="3657600" y="2730500"/>
            <a:ext cx="7797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ts val="1400"/>
              </a:lnSpc>
            </a:pPr>
            <a:r>
              <a:rPr lang="en-US" sz="1300" dirty="0">
                <a:solidFill>
                  <a:srgbClr val="33415C"/>
                </a:solidFill>
              </a:rPr>
              <a:t>Bcrypt password hashing · Server-side sessions (401/403) · OTP hashed, single-use, 5-min expiry · Secrets in env vars · HTTPS enforced</a:t>
            </a:r>
          </a:p>
        </p:txBody>
      </p:sp>
      <p:sp>
        <p:nvSpPr>
          <p:cNvPr id="110" name="rowbg2"/>
          <p:cNvSpPr/>
          <p:nvPr/>
        </p:nvSpPr>
        <p:spPr>
          <a:xfrm>
            <a:off x="838200" y="3619500"/>
            <a:ext cx="10744200" cy="812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1" name="bar2"/>
          <p:cNvSpPr/>
          <p:nvPr/>
        </p:nvSpPr>
        <p:spPr>
          <a:xfrm>
            <a:off x="838200" y="3619500"/>
            <a:ext cx="76200" cy="812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label2"/>
          <p:cNvSpPr txBox="1"/>
          <p:nvPr/>
        </p:nvSpPr>
        <p:spPr>
          <a:xfrm>
            <a:off x="1066800" y="3619500"/>
            <a:ext cx="2209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ts val="1500"/>
              </a:lnSpc>
            </a:pPr>
            <a:r>
              <a:rPr lang="en-US" sz="1450" b="1" dirty="0">
                <a:solidFill>
                  <a:srgbClr val="0EA5E9"/>
                </a:solidFill>
              </a:rPr>
              <a:t>Usability</a:t>
            </a:r>
          </a:p>
        </p:txBody>
      </p:sp>
      <p:sp>
        <p:nvSpPr>
          <p:cNvPr id="113" name="div2"/>
          <p:cNvSpPr/>
          <p:nvPr/>
        </p:nvSpPr>
        <p:spPr>
          <a:xfrm>
            <a:off x="3403600" y="3771900"/>
            <a:ext cx="19050" cy="508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4" name="desc2"/>
          <p:cNvSpPr txBox="1"/>
          <p:nvPr/>
        </p:nvSpPr>
        <p:spPr>
          <a:xfrm>
            <a:off x="3657600" y="3619500"/>
            <a:ext cx="7797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ts val="1400"/>
              </a:lnSpc>
            </a:pPr>
            <a:r>
              <a:rPr lang="en-US" sz="1300" dirty="0">
                <a:solidFill>
                  <a:srgbClr val="33415C"/>
                </a:solidFill>
              </a:rPr>
              <a:t>Responsive: Mobile Web ≥375px, Staff desktop ≥1024px · Clear error messages (MSG1–25) · Loading indicators · Booking confirmation summary</a:t>
            </a:r>
          </a:p>
        </p:txBody>
      </p:sp>
      <p:sp>
        <p:nvSpPr>
          <p:cNvPr id="115" name="rowbg3"/>
          <p:cNvSpPr/>
          <p:nvPr/>
        </p:nvSpPr>
        <p:spPr>
          <a:xfrm>
            <a:off x="838200" y="4508500"/>
            <a:ext cx="10744200" cy="812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6" name="bar3"/>
          <p:cNvSpPr/>
          <p:nvPr/>
        </p:nvSpPr>
        <p:spPr>
          <a:xfrm>
            <a:off x="838200" y="4508500"/>
            <a:ext cx="76200" cy="812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7" name="label3"/>
          <p:cNvSpPr txBox="1"/>
          <p:nvPr/>
        </p:nvSpPr>
        <p:spPr>
          <a:xfrm>
            <a:off x="1066800" y="4508500"/>
            <a:ext cx="2209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ts val="1500"/>
              </a:lnSpc>
            </a:pPr>
            <a:r>
              <a:rPr lang="en-US" sz="1450" b="1" dirty="0">
                <a:solidFill>
                  <a:srgbClr val="16A34A"/>
                </a:solidFill>
              </a:rPr>
              <a:t>Availability &amp; Reliability</a:t>
            </a:r>
          </a:p>
        </p:txBody>
      </p:sp>
      <p:sp>
        <p:nvSpPr>
          <p:cNvPr id="118" name="div3"/>
          <p:cNvSpPr/>
          <p:nvPr/>
        </p:nvSpPr>
        <p:spPr>
          <a:xfrm>
            <a:off x="3403600" y="4660900"/>
            <a:ext cx="19050" cy="508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9" name="desc3"/>
          <p:cNvSpPr txBox="1"/>
          <p:nvPr/>
        </p:nvSpPr>
        <p:spPr>
          <a:xfrm>
            <a:off x="3657600" y="4508500"/>
            <a:ext cx="7797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ts val="1400"/>
              </a:lnSpc>
            </a:pPr>
            <a:r>
              <a:rPr lang="en-US" sz="1300" dirty="0">
                <a:solidFill>
                  <a:srgbClr val="33415C"/>
                </a:solidFill>
              </a:rPr>
              <a:t>Uptime ≥ 99% (07:00–22:00 ICT) · Maintenance off-hours only · Transactional DB writes · Manual LPR fallback</a:t>
            </a:r>
          </a:p>
        </p:txBody>
      </p:sp>
      <p:sp>
        <p:nvSpPr>
          <p:cNvPr id="120" name="rowbg4"/>
          <p:cNvSpPr/>
          <p:nvPr/>
        </p:nvSpPr>
        <p:spPr>
          <a:xfrm>
            <a:off x="838200" y="5397500"/>
            <a:ext cx="10744200" cy="8128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bar4"/>
          <p:cNvSpPr/>
          <p:nvPr/>
        </p:nvSpPr>
        <p:spPr>
          <a:xfrm>
            <a:off x="838200" y="5397500"/>
            <a:ext cx="76200" cy="8128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2" name="label4"/>
          <p:cNvSpPr txBox="1"/>
          <p:nvPr/>
        </p:nvSpPr>
        <p:spPr>
          <a:xfrm>
            <a:off x="1066800" y="5397500"/>
            <a:ext cx="2209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ts val="1500"/>
              </a:lnSpc>
            </a:pPr>
            <a:r>
              <a:rPr lang="en-US" sz="1450" b="1" dirty="0">
                <a:solidFill>
                  <a:srgbClr val="6366F1"/>
                </a:solidFill>
              </a:rPr>
              <a:t>Scalability</a:t>
            </a:r>
          </a:p>
        </p:txBody>
      </p:sp>
      <p:sp>
        <p:nvSpPr>
          <p:cNvPr id="123" name="div4"/>
          <p:cNvSpPr/>
          <p:nvPr/>
        </p:nvSpPr>
        <p:spPr>
          <a:xfrm>
            <a:off x="3403600" y="5549900"/>
            <a:ext cx="19050" cy="508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desc4"/>
          <p:cNvSpPr txBox="1"/>
          <p:nvPr/>
        </p:nvSpPr>
        <p:spPr>
          <a:xfrm>
            <a:off x="3657600" y="5397500"/>
            <a:ext cx="7797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>
              <a:lnSpc>
                <a:spcPts val="1400"/>
              </a:lnSpc>
            </a:pPr>
            <a:r>
              <a:rPr lang="en-US" sz="1300" dirty="0">
                <a:solidFill>
                  <a:srgbClr val="33415C"/>
                </a:solidFill>
              </a:rPr>
              <a:t>Supabase PostgreSQL, horizontally scalable · Stateless backend, load-balancing ready · Single-branch scope; multi-branch out of scope</a:t>
            </a:r>
          </a:p>
        </p:txBody>
      </p:sp>
    </p:spTree>
    <p:extLst>
      <p:ext uri="{BB962C8B-B14F-4D97-AF65-F5344CB8AC3E}">
        <p14:creationId xmlns:p14="http://schemas.microsoft.com/office/powerpoint/2010/main" val="35796262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711F0-86AE-4B29-775B-CA9DBE558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Segoe UI"/>
                <a:cs typeface="Segoe UI"/>
              </a:rPr>
              <a:t>Dialog Diagram</a:t>
            </a:r>
          </a:p>
        </p:txBody>
      </p:sp>
      <p:pic>
        <p:nvPicPr>
          <p:cNvPr id="4" name="Picture 3">
            <a:hlinkClick r:id="rId2" action="ppaction://hlinkfile"/>
            <a:extLst>
              <a:ext uri="{FF2B5EF4-FFF2-40B4-BE49-F238E27FC236}">
                <a16:creationId xmlns:a16="http://schemas.microsoft.com/office/drawing/2014/main" id="{B1595E70-3A33-7B66-F52C-E31B07E9D8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936" y="1690688"/>
            <a:ext cx="10677525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362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7D39A-8EEF-7CC2-701D-985170295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64F95-2A19-9016-C87C-3551472C4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Segoe UI"/>
                <a:cs typeface="Segoe UI"/>
              </a:rPr>
              <a:t>Dialog Diagram</a:t>
            </a:r>
          </a:p>
        </p:txBody>
      </p:sp>
      <p:pic>
        <p:nvPicPr>
          <p:cNvPr id="6" name="Picture 5">
            <a:hlinkClick r:id="rId2" action="ppaction://hlinkfile"/>
            <a:extLst>
              <a:ext uri="{FF2B5EF4-FFF2-40B4-BE49-F238E27FC236}">
                <a16:creationId xmlns:a16="http://schemas.microsoft.com/office/drawing/2014/main" id="{8CF9C01D-F00C-5AD7-191D-096ACECF6F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487" y="2378075"/>
            <a:ext cx="972502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25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"/>
          <p:cNvSpPr/>
          <p:nvPr/>
        </p:nvSpPr>
        <p:spPr>
          <a:xfrm>
            <a:off x="1778000" y="2032000"/>
            <a:ext cx="8636000" cy="2794000"/>
          </a:xfrm>
          <a:prstGeom prst="roundRect">
            <a:avLst>
              <a:gd name="adj" fmla="val 6000"/>
            </a:avLst>
          </a:prstGeom>
          <a:solidFill>
            <a:srgbClr val="2563EB"/>
          </a:solidFill>
          <a:ln>
            <a:noFill/>
          </a:ln>
        </p:spPr>
        <p:txBody>
          <a:bodyPr lIns="90000" tIns="45000" rIns="90000" bIns="45000" anchor="ctr"/>
          <a:lstStyle/>
          <a:p>
            <a:pPr algn="ctr">
              <a:spcAft>
                <a:spcPts val="800"/>
              </a:spcAft>
            </a:pPr>
            <a:r>
              <a:rPr lang="en-US" sz="4400" b="1" dirty="0">
                <a:solidFill>
                  <a:srgbClr val="FFFFFF"/>
                </a:solidFill>
              </a:rPr>
              <a:t>Thank You</a:t>
            </a:r>
          </a:p>
          <a:p>
            <a:pPr algn="ctr"/>
            <a:r>
              <a:rPr lang="en-US" sz="2200" b="1" dirty="0">
                <a:solidFill>
                  <a:srgbClr val="FFFFFF"/>
                </a:solidFill>
              </a:rPr>
              <a:t>Questions &amp; Answers (Q&amp;A)</a:t>
            </a:r>
          </a:p>
        </p:txBody>
      </p:sp>
    </p:spTree>
    <p:extLst>
      <p:ext uri="{BB962C8B-B14F-4D97-AF65-F5344CB8AC3E}">
        <p14:creationId xmlns:p14="http://schemas.microsoft.com/office/powerpoint/2010/main" val="1898067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75EFCFE-328C-4507-A386-809EFC7D3038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860755b3-a0eb-4f25-867c-dfa6e85eda2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544</Words>
  <Application>Microsoft Office PowerPoint</Application>
  <PresentationFormat>Widescreen</PresentationFormat>
  <Paragraphs>94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Segoe UI</vt:lpstr>
      <vt:lpstr>Office Theme</vt:lpstr>
      <vt:lpstr>Auto-Wash</vt:lpstr>
      <vt:lpstr>Background &amp; Purpose</vt:lpstr>
      <vt:lpstr>Technology Architecture</vt:lpstr>
      <vt:lpstr>Actors &amp; External Systems</vt:lpstr>
      <vt:lpstr>Context Diagram</vt:lpstr>
      <vt:lpstr>ERD - 9 Entities</vt:lpstr>
      <vt:lpstr>PowerPoint Presentation</vt:lpstr>
      <vt:lpstr>5 Functional Modules - 24 Use Cases</vt:lpstr>
      <vt:lpstr>State transition diagrama</vt:lpstr>
      <vt:lpstr>Data flow diagrama</vt:lpstr>
      <vt:lpstr>Non-Functional Requirements (NFR)</vt:lpstr>
      <vt:lpstr>Dialog Diagram</vt:lpstr>
      <vt:lpstr>Dialog Diagram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Huy Hoàng</dc:creator>
  <cp:lastModifiedBy>Huy Hoàng</cp:lastModifiedBy>
  <cp:revision>1</cp:revision>
  <dcterms:created xsi:type="dcterms:W3CDTF">2026-07-20T09:59:55Z</dcterms:created>
  <dcterms:modified xsi:type="dcterms:W3CDTF">2026-07-20T10:02:06Z</dcterms:modified>
</cp:coreProperties>
</file>