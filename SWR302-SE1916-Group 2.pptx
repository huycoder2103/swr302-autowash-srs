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16" r:id="rId6"/>
    <p:sldId id="323" r:id="rId7"/>
    <p:sldId id="324" r:id="rId8"/>
    <p:sldId id="326" r:id="rId9"/>
    <p:sldId id="327" r:id="rId10"/>
    <p:sldId id="342" r:id="rId11"/>
    <p:sldId id="336" r:id="rId12"/>
    <p:sldId id="340" r:id="rId13"/>
    <p:sldId id="341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B0FA-AB9B-7F58-C0F6-1F2B35F79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071AE-A4FD-2433-09A9-31126D422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91468-3CA7-2325-6A2B-577A979A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C4AF4-3E3E-C4DE-AD32-2F71DE33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1687B-6F66-109B-3D4E-C8FAA319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3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B155-73DE-1E16-3884-1F1EDB86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23A61-B0A1-A31C-AD83-004C23794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5256-786C-3076-FD8A-DF06B613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AB30D-2062-9707-B38A-47C59EC6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2FEE-C363-E989-EBE1-65FB16F0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2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9B68-2609-26E6-D2C2-10AC5B66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D70CC-3160-7741-7F8B-2969EAC5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B81F-824A-C50A-1F61-BDE7AC7D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1A8-B471-15F2-D6E5-DD8C4F7B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B4474-07CC-08D2-AB3C-25602867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9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868B-90D6-04C6-C70F-8230BC2C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B45D5-DAD7-44E7-F4C6-C28636C2B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8E320-7028-2952-7FBA-E1F2FEB65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6D332-5186-C122-FE8D-EA2A4543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FD88E-63E4-8E6C-CCB5-6308A21C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BFA2D-9C75-81C4-9383-2D9A937B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0487-B5DA-9E5B-44EE-4B72CC0F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916EC-C8FB-8A1C-9D6C-4994C8EB9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D12D5-CD7E-8CD7-D07B-C36A3C42A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13BE4-EFF2-0AC7-0268-32B10A992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50AB3-D62F-EF0C-AE2B-04C83FE3F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E3009-9B84-782D-A416-278CC967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13D74-D703-DDC2-941F-DB02E97C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96094-8808-80CF-486D-E5E4D9A1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6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CD53-0109-AA2F-0D6F-B0FFBE4C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08EB5-6765-981F-5543-0F683187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C1945-04FF-30F8-585E-8A3D7483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49993-A33D-FBEF-12EC-0535EC62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6267E-712B-13EC-47E0-2EF724E4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DDA4A-E090-C0AC-855D-1203C18A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599DB-BE5A-6F16-9F87-FC144CA8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4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1A0D-3D9A-FF20-24B0-F82F9277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537F-1646-8113-3B37-2FE9FEC7B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7F0E0-DC17-38A8-A855-4384A2E7F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5CD52-9490-C2D7-8EEC-2E39B4CB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8F2E-2DDF-229D-45AE-B6A2C403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652E3-C672-B372-0F5B-15C8137E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FB7B-C48D-2D38-BE53-265D8AD9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51861-2608-615A-3388-B01F758FA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6D476-6C07-EA6B-1340-6F0F0C243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494F3-8AB8-2A33-340F-EEC49F76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9A45D-3ECE-5B1C-3973-5ACEBA6C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21F6-397A-4EFA-F1BC-DA7FAD27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7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95BB-E153-9A68-EDAB-7C157DBC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3DB7E-9E35-F339-24F8-65FE550F7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43394-A03F-8B8A-82C7-AD77B31DA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085A0-B0C0-5691-3CCD-9A93F7EE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366B4-6CB2-4465-0B9A-FF67F8DB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5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E2EDA-15DF-8BAB-5CC7-DEA9BE67F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9C28B-D564-70A2-7397-71F96808E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4CD84-E097-C275-126B-9E381FA0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680BF-E861-F33B-0AB3-AA9B002F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0ECB7-C6B8-F7C0-0520-0D70253E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5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9D85D-7282-F935-0337-A3F4F010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886F-CF58-F72A-4376-7C2673F5E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F2ED2-4A39-D37C-72FA-C604EB9CC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22643-0C17-4F86-AEE4-934F5AB8FD0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29B6-5825-C270-6886-6C785173A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6670C-97D8-1BE9-1CAD-6C33F0878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01AD8-5B04-4B59-BF39-672707DA7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../diagrams-html/context.html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../diagrams-html/erd.html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diagrams-html/usecase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../diagrams-html/state.html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file:///D:\FPT%20SEMESTER\5.SUMMER2026\SWR302\Auto-Wash-Project\diagrams\diagram%20picture\DataFlow\DataFlowDiagram.drawio.html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../diagrams-html/dialogmap.html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../diagrams-html/mockups.html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ECBC-415C-90E6-F184-5EE507AC5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vi-VN" sz="6600" dirty="0">
                <a:solidFill>
                  <a:srgbClr val="2563EB"/>
                </a:solidFill>
                <a:cs typeface="Segoe UI"/>
              </a:rPr>
              <a:t>Auto-Wash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DCAF3-5986-CA68-B870-B99B16754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1A2438"/>
                </a:solidFill>
              </a:rPr>
              <a:t>Automated Car Wash Center Management System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33415C"/>
                </a:solidFill>
              </a:rPr>
              <a:t>Software Requirements Specification (SRS) - Version 2.9</a:t>
            </a:r>
          </a:p>
          <a:p>
            <a:pPr algn="ctr"/>
            <a:r>
              <a:rPr lang="en-US" sz="1400" dirty="0">
                <a:solidFill>
                  <a:srgbClr val="0EA5E9"/>
                </a:solidFill>
              </a:rPr>
              <a:t>FPT University </a:t>
            </a:r>
            <a:r>
              <a:rPr lang="en-US" sz="1400">
                <a:solidFill>
                  <a:srgbClr val="0EA5E9"/>
                </a:solidFill>
              </a:rPr>
              <a:t>· SWR302</a:t>
            </a:r>
            <a:endParaRPr lang="en-US" sz="1400" dirty="0">
              <a:solidFill>
                <a:srgbClr val="0EA5E9"/>
              </a:solidFill>
            </a:endParaRPr>
          </a:p>
        </p:txBody>
      </p:sp>
      <p:pic>
        <p:nvPicPr>
          <p:cNvPr id="4" name="Graphic 4" descr="Car wash logo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4200" y="254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7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5C06-6D2C-65C4-9100-558BDB5C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Background &amp; Purpose</a:t>
            </a:r>
          </a:p>
        </p:txBody>
      </p:sp>
      <p:sp>
        <p:nvSpPr>
          <p:cNvPr id="50" name="card"/>
          <p:cNvSpPr/>
          <p:nvPr/>
        </p:nvSpPr>
        <p:spPr>
          <a:xfrm>
            <a:off x="8382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h"/>
          <p:cNvSpPr/>
          <p:nvPr/>
        </p:nvSpPr>
        <p:spPr>
          <a:xfrm>
            <a:off x="17526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Problem</a:t>
            </a:r>
          </a:p>
        </p:txBody>
      </p:sp>
      <p:sp>
        <p:nvSpPr>
          <p:cNvPr id="52" name="b"/>
          <p:cNvSpPr/>
          <p:nvPr/>
        </p:nvSpPr>
        <p:spPr>
          <a:xfrm>
            <a:off x="11176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Digitize automated car wash center operations - from customer bookings to on-site queue management.</a:t>
            </a:r>
          </a:p>
        </p:txBody>
      </p:sp>
      <p:sp>
        <p:nvSpPr>
          <p:cNvPr id="53" name="card"/>
          <p:cNvSpPr/>
          <p:nvPr/>
        </p:nvSpPr>
        <p:spPr>
          <a:xfrm>
            <a:off x="63373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h"/>
          <p:cNvSpPr/>
          <p:nvPr/>
        </p:nvSpPr>
        <p:spPr>
          <a:xfrm>
            <a:off x="72517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SRS Objective</a:t>
            </a:r>
          </a:p>
        </p:txBody>
      </p:sp>
      <p:sp>
        <p:nvSpPr>
          <p:cNvPr id="55" name="b"/>
          <p:cNvSpPr/>
          <p:nvPr/>
        </p:nvSpPr>
        <p:spPr>
          <a:xfrm>
            <a:off x="66167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Define business scope, align functional &amp; non-functional requirements, and serve as the basis for User Acceptance Testing (UAT).</a:t>
            </a:r>
          </a:p>
        </p:txBody>
      </p:sp>
      <p:sp>
        <p:nvSpPr>
          <p:cNvPr id="56" name="card"/>
          <p:cNvSpPr/>
          <p:nvPr/>
        </p:nvSpPr>
        <p:spPr>
          <a:xfrm>
            <a:off x="8382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"/>
          <p:cNvSpPr/>
          <p:nvPr/>
        </p:nvSpPr>
        <p:spPr>
          <a:xfrm>
            <a:off x="17526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Product</a:t>
            </a:r>
          </a:p>
        </p:txBody>
      </p:sp>
      <p:sp>
        <p:nvSpPr>
          <p:cNvPr id="58" name="b"/>
          <p:cNvSpPr/>
          <p:nvPr/>
        </p:nvSpPr>
        <p:spPr>
          <a:xfrm>
            <a:off x="11176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Web application - Customers use Mobile Web, Staff use Desktop.</a:t>
            </a:r>
          </a:p>
        </p:txBody>
      </p:sp>
      <p:sp>
        <p:nvSpPr>
          <p:cNvPr id="59" name="card"/>
          <p:cNvSpPr/>
          <p:nvPr/>
        </p:nvSpPr>
        <p:spPr>
          <a:xfrm>
            <a:off x="63373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h"/>
          <p:cNvSpPr/>
          <p:nvPr/>
        </p:nvSpPr>
        <p:spPr>
          <a:xfrm>
            <a:off x="72517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Reference Standard</a:t>
            </a:r>
          </a:p>
        </p:txBody>
      </p:sp>
      <p:sp>
        <p:nvSpPr>
          <p:cNvPr id="61" name="b"/>
          <p:cNvSpPr/>
          <p:nvPr/>
        </p:nvSpPr>
        <p:spPr>
          <a:xfrm>
            <a:off x="66167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Complies with the IEEE 830-1998 SRS documentation standard.</a:t>
            </a:r>
          </a:p>
        </p:txBody>
      </p:sp>
      <p:pic>
        <p:nvPicPr>
          <p:cNvPr id="62" name="Graphic 62" descr="Problem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133600"/>
            <a:ext cx="533400" cy="533400"/>
          </a:xfrm>
          <a:prstGeom prst="rect">
            <a:avLst/>
          </a:prstGeom>
        </p:spPr>
      </p:pic>
      <p:pic>
        <p:nvPicPr>
          <p:cNvPr id="63" name="Graphic 63" descr="Goal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2133600"/>
            <a:ext cx="533400" cy="533400"/>
          </a:xfrm>
          <a:prstGeom prst="rect">
            <a:avLst/>
          </a:prstGeom>
        </p:spPr>
      </p:pic>
      <p:pic>
        <p:nvPicPr>
          <p:cNvPr id="64" name="Graphic 64" descr="Produc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483100"/>
            <a:ext cx="533400" cy="533400"/>
          </a:xfrm>
          <a:prstGeom prst="rect">
            <a:avLst/>
          </a:prstGeom>
        </p:spPr>
      </p:pic>
      <p:pic>
        <p:nvPicPr>
          <p:cNvPr id="65" name="Graphic 65" descr="Standard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44831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3F25-CF2E-526D-B2FA-DA4016F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/>
                <a:cs typeface="Segoe UI"/>
              </a:rPr>
              <a:t>Technology Architecture</a:t>
            </a:r>
          </a:p>
        </p:txBody>
      </p:sp>
      <p:sp>
        <p:nvSpPr>
          <p:cNvPr id="50" name="r"/>
          <p:cNvSpPr/>
          <p:nvPr/>
        </p:nvSpPr>
        <p:spPr>
          <a:xfrm>
            <a:off x="838200" y="19050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"/>
          <p:cNvSpPr/>
          <p:nvPr/>
        </p:nvSpPr>
        <p:spPr>
          <a:xfrm>
            <a:off x="838200" y="1905000"/>
            <a:ext cx="1016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1854200" y="19050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53" name="r"/>
          <p:cNvSpPr/>
          <p:nvPr/>
        </p:nvSpPr>
        <p:spPr>
          <a:xfrm>
            <a:off x="4292600" y="20574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"/>
          <p:cNvSpPr/>
          <p:nvPr/>
        </p:nvSpPr>
        <p:spPr>
          <a:xfrm>
            <a:off x="4546600" y="19050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React 18 + Vite - SPA, optimized for mobile</a:t>
            </a:r>
          </a:p>
        </p:txBody>
      </p:sp>
      <p:sp>
        <p:nvSpPr>
          <p:cNvPr id="55" name="r"/>
          <p:cNvSpPr/>
          <p:nvPr/>
        </p:nvSpPr>
        <p:spPr>
          <a:xfrm>
            <a:off x="838200" y="28194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"/>
          <p:cNvSpPr/>
          <p:nvPr/>
        </p:nvSpPr>
        <p:spPr>
          <a:xfrm>
            <a:off x="838200" y="2819400"/>
            <a:ext cx="101600" cy="736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"/>
          <p:cNvSpPr/>
          <p:nvPr/>
        </p:nvSpPr>
        <p:spPr>
          <a:xfrm>
            <a:off x="1854200" y="28194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1D4ED8"/>
                </a:solidFill>
              </a:rPr>
              <a:t>Backend</a:t>
            </a:r>
          </a:p>
        </p:txBody>
      </p:sp>
      <p:sp>
        <p:nvSpPr>
          <p:cNvPr id="58" name="r"/>
          <p:cNvSpPr/>
          <p:nvPr/>
        </p:nvSpPr>
        <p:spPr>
          <a:xfrm>
            <a:off x="4292600" y="29718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t"/>
          <p:cNvSpPr/>
          <p:nvPr/>
        </p:nvSpPr>
        <p:spPr>
          <a:xfrm>
            <a:off x="4546600" y="28194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ASP.NET Core 8 · Entity Framework Core (Npgsql)</a:t>
            </a:r>
          </a:p>
        </p:txBody>
      </p:sp>
      <p:sp>
        <p:nvSpPr>
          <p:cNvPr id="60" name="r"/>
          <p:cNvSpPr/>
          <p:nvPr/>
        </p:nvSpPr>
        <p:spPr>
          <a:xfrm>
            <a:off x="838200" y="37338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"/>
          <p:cNvSpPr/>
          <p:nvPr/>
        </p:nvSpPr>
        <p:spPr>
          <a:xfrm>
            <a:off x="838200" y="3733800"/>
            <a:ext cx="101600" cy="736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"/>
          <p:cNvSpPr/>
          <p:nvPr/>
        </p:nvSpPr>
        <p:spPr>
          <a:xfrm>
            <a:off x="1854200" y="37338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0EA5E9"/>
                </a:solidFill>
              </a:rPr>
              <a:t>Database</a:t>
            </a:r>
          </a:p>
        </p:txBody>
      </p:sp>
      <p:sp>
        <p:nvSpPr>
          <p:cNvPr id="63" name="r"/>
          <p:cNvSpPr/>
          <p:nvPr/>
        </p:nvSpPr>
        <p:spPr>
          <a:xfrm>
            <a:off x="4292600" y="38862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"/>
          <p:cNvSpPr/>
          <p:nvPr/>
        </p:nvSpPr>
        <p:spPr>
          <a:xfrm>
            <a:off x="4546600" y="37338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PostgreSQL via Supabase - SSL required</a:t>
            </a:r>
          </a:p>
        </p:txBody>
      </p:sp>
      <p:sp>
        <p:nvSpPr>
          <p:cNvPr id="65" name="r"/>
          <p:cNvSpPr/>
          <p:nvPr/>
        </p:nvSpPr>
        <p:spPr>
          <a:xfrm>
            <a:off x="838200" y="46482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"/>
          <p:cNvSpPr/>
          <p:nvPr/>
        </p:nvSpPr>
        <p:spPr>
          <a:xfrm>
            <a:off x="838200" y="4648200"/>
            <a:ext cx="101600" cy="736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"/>
          <p:cNvSpPr/>
          <p:nvPr/>
        </p:nvSpPr>
        <p:spPr>
          <a:xfrm>
            <a:off x="1854200" y="46482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6366F1"/>
                </a:solidFill>
              </a:rPr>
              <a:t>Communication</a:t>
            </a:r>
          </a:p>
        </p:txBody>
      </p:sp>
      <p:sp>
        <p:nvSpPr>
          <p:cNvPr id="68" name="r"/>
          <p:cNvSpPr/>
          <p:nvPr/>
        </p:nvSpPr>
        <p:spPr>
          <a:xfrm>
            <a:off x="4292600" y="48006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"/>
          <p:cNvSpPr/>
          <p:nvPr/>
        </p:nvSpPr>
        <p:spPr>
          <a:xfrm>
            <a:off x="4546600" y="46482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JSON REST API</a:t>
            </a:r>
          </a:p>
        </p:txBody>
      </p:sp>
      <p:sp>
        <p:nvSpPr>
          <p:cNvPr id="70" name="r"/>
          <p:cNvSpPr/>
          <p:nvPr/>
        </p:nvSpPr>
        <p:spPr>
          <a:xfrm>
            <a:off x="838200" y="55626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"/>
          <p:cNvSpPr/>
          <p:nvPr/>
        </p:nvSpPr>
        <p:spPr>
          <a:xfrm>
            <a:off x="838200" y="5562600"/>
            <a:ext cx="101600" cy="736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"/>
          <p:cNvSpPr/>
          <p:nvPr/>
        </p:nvSpPr>
        <p:spPr>
          <a:xfrm>
            <a:off x="1854200" y="55626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10B981"/>
                </a:solidFill>
              </a:rPr>
              <a:t>Session</a:t>
            </a:r>
          </a:p>
        </p:txBody>
      </p:sp>
      <p:sp>
        <p:nvSpPr>
          <p:cNvPr id="73" name="r"/>
          <p:cNvSpPr/>
          <p:nvPr/>
        </p:nvSpPr>
        <p:spPr>
          <a:xfrm>
            <a:off x="4292600" y="57150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t"/>
          <p:cNvSpPr/>
          <p:nvPr/>
        </p:nvSpPr>
        <p:spPr>
          <a:xfrm>
            <a:off x="4546600" y="55626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Server-side session - stateless, load-balancing ready</a:t>
            </a:r>
          </a:p>
        </p:txBody>
      </p:sp>
      <p:pic>
        <p:nvPicPr>
          <p:cNvPr id="75" name="Graphic 75" descr="Fronte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57400"/>
            <a:ext cx="431800" cy="431800"/>
          </a:xfrm>
          <a:prstGeom prst="rect">
            <a:avLst/>
          </a:prstGeom>
        </p:spPr>
      </p:pic>
      <p:pic>
        <p:nvPicPr>
          <p:cNvPr id="76" name="Graphic 76" descr="Backen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971800"/>
            <a:ext cx="431800" cy="431800"/>
          </a:xfrm>
          <a:prstGeom prst="rect">
            <a:avLst/>
          </a:prstGeom>
        </p:spPr>
      </p:pic>
      <p:pic>
        <p:nvPicPr>
          <p:cNvPr id="77" name="Graphic 77" descr="Databas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886200"/>
            <a:ext cx="431800" cy="431800"/>
          </a:xfrm>
          <a:prstGeom prst="rect">
            <a:avLst/>
          </a:prstGeom>
        </p:spPr>
      </p:pic>
      <p:pic>
        <p:nvPicPr>
          <p:cNvPr id="78" name="Graphic 78" descr="API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800600"/>
            <a:ext cx="431800" cy="431800"/>
          </a:xfrm>
          <a:prstGeom prst="rect">
            <a:avLst/>
          </a:prstGeom>
        </p:spPr>
      </p:pic>
      <p:pic>
        <p:nvPicPr>
          <p:cNvPr id="79" name="Graphic 79" descr="Sess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7150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1A9A-AC3E-0D4B-649B-4D4B68A1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Actors &amp; External Systems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2209800" y="215900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9652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2563EB"/>
                </a:solidFill>
              </a:rPr>
              <a:t>Staff</a:t>
            </a:r>
          </a:p>
        </p:txBody>
      </p:sp>
      <p:sp>
        <p:nvSpPr>
          <p:cNvPr id="53" name="t"/>
          <p:cNvSpPr/>
          <p:nvPr/>
        </p:nvSpPr>
        <p:spPr>
          <a:xfrm>
            <a:off x="11176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Vehicle check-in / check-out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Scan license plate, manage queue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Confirm / cancel bookings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Manage accounts &amp; services</a:t>
            </a:r>
          </a:p>
        </p:txBody>
      </p:sp>
      <p:sp>
        <p:nvSpPr>
          <p:cNvPr id="54" name="s"/>
          <p:cNvSpPr/>
          <p:nvPr/>
        </p:nvSpPr>
        <p:spPr>
          <a:xfrm>
            <a:off x="44958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"/>
          <p:cNvSpPr/>
          <p:nvPr/>
        </p:nvSpPr>
        <p:spPr>
          <a:xfrm>
            <a:off x="5867400" y="2159000"/>
            <a:ext cx="685800" cy="6858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"/>
          <p:cNvSpPr/>
          <p:nvPr/>
        </p:nvSpPr>
        <p:spPr>
          <a:xfrm>
            <a:off x="46228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0EA5E9"/>
                </a:solidFill>
              </a:rPr>
              <a:t>Customer</a:t>
            </a:r>
          </a:p>
        </p:txBody>
      </p:sp>
      <p:sp>
        <p:nvSpPr>
          <p:cNvPr id="57" name="t"/>
          <p:cNvSpPr/>
          <p:nvPr/>
        </p:nvSpPr>
        <p:spPr>
          <a:xfrm>
            <a:off x="47752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Register, manage personal vehicles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Create &amp; track bookings (Mobile Web)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Receive email notifications</a:t>
            </a:r>
          </a:p>
        </p:txBody>
      </p:sp>
      <p:sp>
        <p:nvSpPr>
          <p:cNvPr id="58" name="s"/>
          <p:cNvSpPr/>
          <p:nvPr/>
        </p:nvSpPr>
        <p:spPr>
          <a:xfrm>
            <a:off x="81534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9525000" y="2159000"/>
            <a:ext cx="685800" cy="685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"/>
          <p:cNvSpPr/>
          <p:nvPr/>
        </p:nvSpPr>
        <p:spPr>
          <a:xfrm>
            <a:off x="82804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6366F1"/>
                </a:solidFill>
              </a:rPr>
              <a:t>System</a:t>
            </a:r>
          </a:p>
        </p:txBody>
      </p:sp>
      <p:sp>
        <p:nvSpPr>
          <p:cNvPr id="61" name="t"/>
          <p:cNvSpPr/>
          <p:nvPr/>
        </p:nvSpPr>
        <p:spPr>
          <a:xfrm>
            <a:off x="84328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Automatically send OTP / confirmation / completion emails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Receive license plate recognition (LPR) results</a:t>
            </a:r>
          </a:p>
        </p:txBody>
      </p:sp>
      <p:sp>
        <p:nvSpPr>
          <p:cNvPr id="62" name="s"/>
          <p:cNvSpPr/>
          <p:nvPr/>
        </p:nvSpPr>
        <p:spPr>
          <a:xfrm>
            <a:off x="838200" y="5384800"/>
            <a:ext cx="10744200" cy="863600"/>
          </a:xfrm>
          <a:prstGeom prst="roundRect">
            <a:avLst>
              <a:gd name="adj" fmla="val 7000"/>
            </a:avLst>
          </a:prstGeom>
          <a:solidFill>
            <a:srgbClr val="1A24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"/>
          <p:cNvSpPr/>
          <p:nvPr/>
        </p:nvSpPr>
        <p:spPr>
          <a:xfrm>
            <a:off x="1168400" y="5384800"/>
            <a:ext cx="241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50" b="1" dirty="0">
                <a:solidFill>
                  <a:srgbClr val="0EA5E9"/>
                </a:solidFill>
              </a:rPr>
              <a:t>External Systems</a:t>
            </a:r>
          </a:p>
        </p:txBody>
      </p:sp>
      <p:sp>
        <p:nvSpPr>
          <p:cNvPr id="64" name="t"/>
          <p:cNvSpPr/>
          <p:nvPr/>
        </p:nvSpPr>
        <p:spPr>
          <a:xfrm>
            <a:off x="3759200" y="5384800"/>
            <a:ext cx="749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400" dirty="0">
                <a:solidFill>
                  <a:srgbClr val="FFFFFF"/>
                </a:solidFill>
              </a:rPr>
              <a:t>Email SMTP (Gmail / MailKit)  ·  Camera LPR  ·  3rd-party LPR API</a:t>
            </a:r>
          </a:p>
        </p:txBody>
      </p:sp>
      <p:pic>
        <p:nvPicPr>
          <p:cNvPr id="65" name="Graphic 65" descr="Staf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2311400"/>
            <a:ext cx="381000" cy="381000"/>
          </a:xfrm>
          <a:prstGeom prst="rect">
            <a:avLst/>
          </a:prstGeom>
        </p:spPr>
      </p:pic>
      <p:pic>
        <p:nvPicPr>
          <p:cNvPr id="66" name="Graphic 66" descr="Custome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800" y="2311400"/>
            <a:ext cx="381000" cy="381000"/>
          </a:xfrm>
          <a:prstGeom prst="rect">
            <a:avLst/>
          </a:prstGeom>
        </p:spPr>
      </p:pic>
      <p:pic>
        <p:nvPicPr>
          <p:cNvPr id="67" name="Graphic 67" descr="Syste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7400" y="23114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96C2-7347-3389-C45B-466EC4AF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9696-A68C-DA40-9AA2-FB3898E7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43200" cy="656851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Context Diagram</a:t>
            </a:r>
            <a:endParaRPr lang="vi-VN" sz="2000" b="1">
              <a:latin typeface="Segoe UI"/>
              <a:cs typeface="Segoe UI"/>
            </a:endParaRP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6F96F1BC-4F32-8F86-40D4-61C6416AB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98176"/>
            <a:ext cx="10325100" cy="52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5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0B04-8B1F-B7DA-6029-B433565D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ERD - 9 Entities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63163-106E-4943-A938-2269CD3E655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744200" cy="408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77448395"/>
                    </a:ext>
                  </a:extLst>
                </a:gridCol>
                <a:gridCol w="8204200">
                  <a:extLst>
                    <a:ext uri="{9D8B030D-6E8A-4147-A177-3AD203B41FA5}">
                      <a16:colId xmlns:a16="http://schemas.microsoft.com/office/drawing/2014/main" val="425151252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Entity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Role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085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Identity, email/phone, PasswordHash, Role (1=Staff, 2=Customer)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7315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Customer profile + statistics (TotalVisits, TotalSpend)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6183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Vehicle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Customer's vehicle - normalized LicensePlate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599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Booking (ScheduledAt, Status 1–5, price)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06245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Junction table Booking ↔ Service (PriceSnapshot)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4871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Service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Service catalog (Category 1–4, price, duration)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29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On-site queue (Position, timestamps)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0762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Notification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In-app notification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974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OtpVerification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Temporary OTP code (no foreign key)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67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DA26-3E31-10F0-9EA7-8FD9ACA7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893159-05B6-0DF9-30FD-F8EBCAE74BAC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7172325" cy="656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latin typeface="Segoe UI"/>
                <a:cs typeface="Segoe UI"/>
              </a:rPr>
              <a:t>ERD- 9 Entities</a:t>
            </a:r>
          </a:p>
        </p:txBody>
      </p:sp>
      <p:pic>
        <p:nvPicPr>
          <p:cNvPr id="8" name="Picture 7">
            <a:hlinkClick r:id="rId2" action="ppaction://hlinkfile"/>
            <a:extLst>
              <a:ext uri="{FF2B5EF4-FFF2-40B4-BE49-F238E27FC236}">
                <a16:creationId xmlns:a16="http://schemas.microsoft.com/office/drawing/2014/main" id="{9C94D488-0768-0F9F-8E9C-7BBAAF5F8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332" y="1021976"/>
            <a:ext cx="6776093" cy="50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97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591-32B3-8165-4A50-CA87BB75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  <a:hlinkClick r:id="rId2" action="ppaction://hlinkfile"/>
              </a:rPr>
              <a:t>5 Functional Modules - 24 Use Cases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36CE5-18F9-45CA-8F5C-46765F44DD5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744200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812575738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350085642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Module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02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General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 Login · UC2 Logout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912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UC3 Register · UC4 Update profile · UC5 Change password · UC6 Manage user accounts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0933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Vehicle Management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UC7 View vehicles · UC8 Register vehicle · UC9 Delete vehicle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7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Services &amp; Booking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UC10 View services · UC11 Manage services · UC12 Create booking · UC13 View bookings · UC14 Confirm · UC15 Cancel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1052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Queue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UC16–UC22 · Check-in, LPR, status transition, update, check-out, cancel turn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131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UC23 View · UC24 Mark as read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122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22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EDA4-E630-1400-4981-48C6BD79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14700" cy="422275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State transition diagrama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F081784E-A861-6F55-E5A7-7FB44BFB2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250" y="943419"/>
            <a:ext cx="9372900" cy="55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2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F2F1-08FF-94AD-D568-1A280D6B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A949-7F2B-A07E-E1B4-B827FF49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14700" cy="422275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Data flow diagrama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B58C746F-4CC2-2E86-5EDD-06DB548E9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5" y="1101724"/>
            <a:ext cx="11103530" cy="518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4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B8C8-EB3D-CC14-4155-7179E9AF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Non-Functional Requirements (NFR)</a:t>
            </a:r>
          </a:p>
        </p:txBody>
      </p:sp>
      <p:sp>
        <p:nvSpPr>
          <p:cNvPr id="100" name="rowbg0"/>
          <p:cNvSpPr/>
          <p:nvPr/>
        </p:nvSpPr>
        <p:spPr>
          <a:xfrm>
            <a:off x="838200" y="1841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r0"/>
          <p:cNvSpPr/>
          <p:nvPr/>
        </p:nvSpPr>
        <p:spPr>
          <a:xfrm>
            <a:off x="838200" y="1841500"/>
            <a:ext cx="76200" cy="812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label0"/>
          <p:cNvSpPr txBox="1"/>
          <p:nvPr/>
        </p:nvSpPr>
        <p:spPr>
          <a:xfrm>
            <a:off x="1066800" y="1841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2563EB"/>
                </a:solidFill>
              </a:rPr>
              <a:t>Performance</a:t>
            </a:r>
          </a:p>
        </p:txBody>
      </p:sp>
      <p:sp>
        <p:nvSpPr>
          <p:cNvPr id="103" name="div0"/>
          <p:cNvSpPr/>
          <p:nvPr/>
        </p:nvSpPr>
        <p:spPr>
          <a:xfrm>
            <a:off x="3403600" y="1993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desc0"/>
          <p:cNvSpPr txBox="1"/>
          <p:nvPr/>
        </p:nvSpPr>
        <p:spPr>
          <a:xfrm>
            <a:off x="3657600" y="1841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API response &lt; 2s (P95) · Booking creation &lt; 3s · OTP email &lt; 60s · LPR result &lt; 5s · 50 concurrent sessions</a:t>
            </a:r>
          </a:p>
        </p:txBody>
      </p:sp>
      <p:sp>
        <p:nvSpPr>
          <p:cNvPr id="105" name="rowbg1"/>
          <p:cNvSpPr/>
          <p:nvPr/>
        </p:nvSpPr>
        <p:spPr>
          <a:xfrm>
            <a:off x="838200" y="2730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ar1"/>
          <p:cNvSpPr/>
          <p:nvPr/>
        </p:nvSpPr>
        <p:spPr>
          <a:xfrm>
            <a:off x="838200" y="2730500"/>
            <a:ext cx="76200" cy="812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label1"/>
          <p:cNvSpPr txBox="1"/>
          <p:nvPr/>
        </p:nvSpPr>
        <p:spPr>
          <a:xfrm>
            <a:off x="1066800" y="2730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DC2626"/>
                </a:solidFill>
              </a:rPr>
              <a:t>Security</a:t>
            </a:r>
          </a:p>
        </p:txBody>
      </p:sp>
      <p:sp>
        <p:nvSpPr>
          <p:cNvPr id="108" name="div1"/>
          <p:cNvSpPr/>
          <p:nvPr/>
        </p:nvSpPr>
        <p:spPr>
          <a:xfrm>
            <a:off x="3403600" y="2882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esc1"/>
          <p:cNvSpPr txBox="1"/>
          <p:nvPr/>
        </p:nvSpPr>
        <p:spPr>
          <a:xfrm>
            <a:off x="3657600" y="2730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Bcrypt password hashing · Server-side sessions (401/403) · OTP hashed, single-use, 5-min expiry · Secrets in env vars · HTTPS enforced</a:t>
            </a:r>
          </a:p>
        </p:txBody>
      </p:sp>
      <p:sp>
        <p:nvSpPr>
          <p:cNvPr id="110" name="rowbg2"/>
          <p:cNvSpPr/>
          <p:nvPr/>
        </p:nvSpPr>
        <p:spPr>
          <a:xfrm>
            <a:off x="838200" y="3619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bar2"/>
          <p:cNvSpPr/>
          <p:nvPr/>
        </p:nvSpPr>
        <p:spPr>
          <a:xfrm>
            <a:off x="838200" y="3619500"/>
            <a:ext cx="76200" cy="812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2"/>
          <p:cNvSpPr txBox="1"/>
          <p:nvPr/>
        </p:nvSpPr>
        <p:spPr>
          <a:xfrm>
            <a:off x="1066800" y="3619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0EA5E9"/>
                </a:solidFill>
              </a:rPr>
              <a:t>Usability</a:t>
            </a:r>
          </a:p>
        </p:txBody>
      </p:sp>
      <p:sp>
        <p:nvSpPr>
          <p:cNvPr id="113" name="div2"/>
          <p:cNvSpPr/>
          <p:nvPr/>
        </p:nvSpPr>
        <p:spPr>
          <a:xfrm>
            <a:off x="3403600" y="3771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desc2"/>
          <p:cNvSpPr txBox="1"/>
          <p:nvPr/>
        </p:nvSpPr>
        <p:spPr>
          <a:xfrm>
            <a:off x="3657600" y="3619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Responsive: Mobile Web ≥375px, Staff desktop ≥1024px · Clear error messages (MSG1–25) · Loading indicators · Booking confirmation summary</a:t>
            </a:r>
          </a:p>
        </p:txBody>
      </p:sp>
      <p:sp>
        <p:nvSpPr>
          <p:cNvPr id="115" name="rowbg3"/>
          <p:cNvSpPr/>
          <p:nvPr/>
        </p:nvSpPr>
        <p:spPr>
          <a:xfrm>
            <a:off x="838200" y="4508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bar3"/>
          <p:cNvSpPr/>
          <p:nvPr/>
        </p:nvSpPr>
        <p:spPr>
          <a:xfrm>
            <a:off x="838200" y="4508500"/>
            <a:ext cx="76200" cy="812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label3"/>
          <p:cNvSpPr txBox="1"/>
          <p:nvPr/>
        </p:nvSpPr>
        <p:spPr>
          <a:xfrm>
            <a:off x="1066800" y="4508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16A34A"/>
                </a:solidFill>
              </a:rPr>
              <a:t>Availability &amp; Reliability</a:t>
            </a:r>
          </a:p>
        </p:txBody>
      </p:sp>
      <p:sp>
        <p:nvSpPr>
          <p:cNvPr id="118" name="div3"/>
          <p:cNvSpPr/>
          <p:nvPr/>
        </p:nvSpPr>
        <p:spPr>
          <a:xfrm>
            <a:off x="3403600" y="4660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desc3"/>
          <p:cNvSpPr txBox="1"/>
          <p:nvPr/>
        </p:nvSpPr>
        <p:spPr>
          <a:xfrm>
            <a:off x="3657600" y="4508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Uptime ≥ 99% (07:00–22:00 ICT) · Maintenance off-hours only · Transactional DB writes · Manual LPR fallback</a:t>
            </a:r>
          </a:p>
        </p:txBody>
      </p:sp>
      <p:sp>
        <p:nvSpPr>
          <p:cNvPr id="120" name="rowbg4"/>
          <p:cNvSpPr/>
          <p:nvPr/>
        </p:nvSpPr>
        <p:spPr>
          <a:xfrm>
            <a:off x="838200" y="5397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bar4"/>
          <p:cNvSpPr/>
          <p:nvPr/>
        </p:nvSpPr>
        <p:spPr>
          <a:xfrm>
            <a:off x="838200" y="5397500"/>
            <a:ext cx="76200" cy="812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label4"/>
          <p:cNvSpPr txBox="1"/>
          <p:nvPr/>
        </p:nvSpPr>
        <p:spPr>
          <a:xfrm>
            <a:off x="1066800" y="5397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6366F1"/>
                </a:solidFill>
              </a:rPr>
              <a:t>Scalability</a:t>
            </a:r>
          </a:p>
        </p:txBody>
      </p:sp>
      <p:sp>
        <p:nvSpPr>
          <p:cNvPr id="123" name="div4"/>
          <p:cNvSpPr/>
          <p:nvPr/>
        </p:nvSpPr>
        <p:spPr>
          <a:xfrm>
            <a:off x="3403600" y="5549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esc4"/>
          <p:cNvSpPr txBox="1"/>
          <p:nvPr/>
        </p:nvSpPr>
        <p:spPr>
          <a:xfrm>
            <a:off x="3657600" y="5397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Supabase PostgreSQL, horizontally scalable · Stateless backend, load-balancing ready · Single-branch scope; multi-branch out of scope</a:t>
            </a:r>
          </a:p>
        </p:txBody>
      </p:sp>
    </p:spTree>
    <p:extLst>
      <p:ext uri="{BB962C8B-B14F-4D97-AF65-F5344CB8AC3E}">
        <p14:creationId xmlns:p14="http://schemas.microsoft.com/office/powerpoint/2010/main" val="357962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11F0-86AE-4B29-775B-CA9DBE55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Dialog Diagram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B1595E70-3A33-7B66-F52C-E31B07E9D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6" y="1690688"/>
            <a:ext cx="106775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6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D39A-8EEF-7CC2-701D-98517029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4F95-2A19-9016-C87C-3551472C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Dialog Diagram</a:t>
            </a:r>
          </a:p>
        </p:txBody>
      </p:sp>
      <p:pic>
        <p:nvPicPr>
          <p:cNvPr id="6" name="Picture 5">
            <a:hlinkClick r:id="rId2" action="ppaction://hlinkfile"/>
            <a:extLst>
              <a:ext uri="{FF2B5EF4-FFF2-40B4-BE49-F238E27FC236}">
                <a16:creationId xmlns:a16="http://schemas.microsoft.com/office/drawing/2014/main" id="{8CF9C01D-F00C-5AD7-191D-096ACECF6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87" y="2378075"/>
            <a:ext cx="97250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"/>
          <p:cNvSpPr/>
          <p:nvPr/>
        </p:nvSpPr>
        <p:spPr>
          <a:xfrm>
            <a:off x="1778000" y="2032000"/>
            <a:ext cx="8636000" cy="27940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txBody>
          <a:bodyPr lIns="90000" tIns="45000" rIns="90000" bIns="45000" anchor="ctr"/>
          <a:lstStyle/>
          <a:p>
            <a:pPr algn="ctr">
              <a:spcAft>
                <a:spcPts val="800"/>
              </a:spcAft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lang="en-US" sz="2200" b="1" dirty="0">
                <a:solidFill>
                  <a:srgbClr val="FFFFFF"/>
                </a:solidFill>
              </a:rPr>
              <a:t>Questions &amp; Answers (Q&amp;A)</a:t>
            </a:r>
          </a:p>
        </p:txBody>
      </p:sp>
    </p:spTree>
    <p:extLst>
      <p:ext uri="{BB962C8B-B14F-4D97-AF65-F5344CB8AC3E}">
        <p14:creationId xmlns:p14="http://schemas.microsoft.com/office/powerpoint/2010/main" val="189806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Office Theme</vt:lpstr>
      <vt:lpstr>Auto-Wash</vt:lpstr>
      <vt:lpstr>Background &amp; Purpose</vt:lpstr>
      <vt:lpstr>Technology Architecture</vt:lpstr>
      <vt:lpstr>Actors &amp; External Systems</vt:lpstr>
      <vt:lpstr>Context Diagram</vt:lpstr>
      <vt:lpstr>ERD - 9 Entities</vt:lpstr>
      <vt:lpstr>PowerPoint Presentation</vt:lpstr>
      <vt:lpstr>5 Functional Modules - 24 Use Cases</vt:lpstr>
      <vt:lpstr>State transition diagrama</vt:lpstr>
      <vt:lpstr>Data flow diagrama</vt:lpstr>
      <vt:lpstr>Non-Functional Requirements (NFR)</vt:lpstr>
      <vt:lpstr>Dialog Diagram</vt:lpstr>
      <vt:lpstr>Dialog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Hoàng</dc:creator>
  <cp:lastModifiedBy>Huy Hoàng</cp:lastModifiedBy>
  <cp:revision>1</cp:revision>
  <dcterms:created xsi:type="dcterms:W3CDTF">2026-07-21T08:14:00Z</dcterms:created>
  <dcterms:modified xsi:type="dcterms:W3CDTF">2026-07-21T08:14:34Z</dcterms:modified>
</cp:coreProperties>
</file>